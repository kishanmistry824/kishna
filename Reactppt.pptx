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grandir Narrow" panose="020B0604020202020204" charset="0"/>
      <p:regular r:id="rId16"/>
    </p:embeddedFont>
    <p:embeddedFont>
      <p:font typeface="Assistant Ultra-Bold" panose="020B0604020202020204" charset="-79"/>
      <p:regular r:id="rId17"/>
    </p:embeddedFont>
    <p:embeddedFont>
      <p:font typeface="Century Gothic Paneuropean"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6.sv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a:off x="12496753" y="9109918"/>
            <a:ext cx="5829347" cy="6135263"/>
          </a:xfrm>
          <a:custGeom>
            <a:avLst/>
            <a:gdLst/>
            <a:ahLst/>
            <a:cxnLst/>
            <a:rect l="l" t="t" r="r" b="b"/>
            <a:pathLst>
              <a:path w="5829347" h="6135263">
                <a:moveTo>
                  <a:pt x="0" y="0"/>
                </a:moveTo>
                <a:lnTo>
                  <a:pt x="5829347" y="0"/>
                </a:lnTo>
                <a:lnTo>
                  <a:pt x="5829347" y="6135263"/>
                </a:lnTo>
                <a:lnTo>
                  <a:pt x="0" y="61352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0" y="-4257824"/>
            <a:ext cx="5829347" cy="6135263"/>
          </a:xfrm>
          <a:custGeom>
            <a:avLst/>
            <a:gdLst/>
            <a:ahLst/>
            <a:cxnLst/>
            <a:rect l="l" t="t" r="r" b="b"/>
            <a:pathLst>
              <a:path w="5829347" h="6135263">
                <a:moveTo>
                  <a:pt x="0" y="0"/>
                </a:moveTo>
                <a:lnTo>
                  <a:pt x="5829347" y="0"/>
                </a:lnTo>
                <a:lnTo>
                  <a:pt x="5829347" y="6135263"/>
                </a:lnTo>
                <a:lnTo>
                  <a:pt x="0" y="61352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3478976"/>
            <a:ext cx="5272815" cy="6808024"/>
          </a:xfrm>
          <a:custGeom>
            <a:avLst/>
            <a:gdLst/>
            <a:ahLst/>
            <a:cxnLst/>
            <a:rect l="l" t="t" r="r" b="b"/>
            <a:pathLst>
              <a:path w="5272815" h="6808024">
                <a:moveTo>
                  <a:pt x="5272815" y="0"/>
                </a:moveTo>
                <a:lnTo>
                  <a:pt x="0" y="0"/>
                </a:lnTo>
                <a:lnTo>
                  <a:pt x="0" y="6808024"/>
                </a:lnTo>
                <a:lnTo>
                  <a:pt x="5272815" y="6808024"/>
                </a:lnTo>
                <a:lnTo>
                  <a:pt x="5272815"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0" y="4386809"/>
            <a:ext cx="16856054" cy="3469732"/>
          </a:xfrm>
          <a:prstGeom prst="rect">
            <a:avLst/>
          </a:prstGeom>
        </p:spPr>
        <p:txBody>
          <a:bodyPr lIns="0" tIns="0" rIns="0" bIns="0" rtlCol="0" anchor="t">
            <a:spAutoFit/>
          </a:bodyPr>
          <a:lstStyle/>
          <a:p>
            <a:pPr algn="ctr">
              <a:lnSpc>
                <a:spcPts val="11200"/>
              </a:lnSpc>
            </a:pPr>
            <a:r>
              <a:rPr lang="en-US" sz="8000" b="1" dirty="0">
                <a:solidFill>
                  <a:srgbClr val="FAFAFA"/>
                </a:solidFill>
                <a:latin typeface="Assistant Ultra-Bold"/>
                <a:ea typeface="Assistant Ultra-Bold"/>
                <a:cs typeface="Assistant Ultra-Bold"/>
                <a:sym typeface="Assistant Ultra-Bold"/>
              </a:rPr>
              <a:t>Smart Hire Job Portal</a:t>
            </a:r>
          </a:p>
          <a:p>
            <a:pPr algn="ctr">
              <a:lnSpc>
                <a:spcPts val="11200"/>
              </a:lnSpc>
            </a:pPr>
            <a:r>
              <a:rPr lang="en-US" sz="8000" b="1" dirty="0">
                <a:solidFill>
                  <a:srgbClr val="FAFAFA"/>
                </a:solidFill>
                <a:latin typeface="Assistant Ultra-Bold"/>
                <a:ea typeface="Assistant Ultra-Bold"/>
                <a:cs typeface="Assistant Ultra-Bold"/>
                <a:sym typeface="Assistant Ultra-Bold"/>
              </a:rPr>
              <a:t>(Web Application) </a:t>
            </a:r>
          </a:p>
          <a:p>
            <a:pPr algn="ctr">
              <a:lnSpc>
                <a:spcPts val="3359"/>
              </a:lnSpc>
            </a:pPr>
            <a:endParaRPr lang="en-US" sz="8000" b="1" dirty="0">
              <a:solidFill>
                <a:srgbClr val="FAFAFA"/>
              </a:solidFill>
              <a:latin typeface="Assistant Ultra-Bold"/>
              <a:ea typeface="Assistant Ultra-Bold"/>
              <a:cs typeface="Assistant Ultra-Bold"/>
              <a:sym typeface="Assistant Ultra-Bold"/>
            </a:endParaRPr>
          </a:p>
        </p:txBody>
      </p:sp>
      <p:sp>
        <p:nvSpPr>
          <p:cNvPr id="7" name="Freeform 7"/>
          <p:cNvSpPr/>
          <p:nvPr/>
        </p:nvSpPr>
        <p:spPr>
          <a:xfrm flipV="1">
            <a:off x="13015185" y="0"/>
            <a:ext cx="5272815" cy="6808024"/>
          </a:xfrm>
          <a:custGeom>
            <a:avLst/>
            <a:gdLst/>
            <a:ahLst/>
            <a:cxnLst/>
            <a:rect l="l" t="t" r="r" b="b"/>
            <a:pathLst>
              <a:path w="5272815" h="6808024">
                <a:moveTo>
                  <a:pt x="0" y="6808024"/>
                </a:moveTo>
                <a:lnTo>
                  <a:pt x="5272815" y="6808024"/>
                </a:lnTo>
                <a:lnTo>
                  <a:pt x="5272815" y="0"/>
                </a:lnTo>
                <a:lnTo>
                  <a:pt x="0" y="0"/>
                </a:lnTo>
                <a:lnTo>
                  <a:pt x="0" y="6808024"/>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7429329" y="0"/>
            <a:ext cx="10858671" cy="2699574"/>
          </a:xfrm>
          <a:custGeom>
            <a:avLst/>
            <a:gdLst/>
            <a:ahLst/>
            <a:cxnLst/>
            <a:rect l="l" t="t" r="r" b="b"/>
            <a:pathLst>
              <a:path w="10858671" h="2699574">
                <a:moveTo>
                  <a:pt x="0" y="0"/>
                </a:moveTo>
                <a:lnTo>
                  <a:pt x="10858671" y="0"/>
                </a:lnTo>
                <a:lnTo>
                  <a:pt x="10858671" y="2699574"/>
                </a:lnTo>
                <a:lnTo>
                  <a:pt x="0" y="2699574"/>
                </a:lnTo>
                <a:lnTo>
                  <a:pt x="0" y="0"/>
                </a:lnTo>
                <a:close/>
              </a:path>
            </a:pathLst>
          </a:custGeom>
          <a:blipFill>
            <a:blip r:embed="rId7"/>
            <a:stretch>
              <a:fillRect l="-188"/>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rot="-5400000">
            <a:off x="16126360" y="7562406"/>
            <a:ext cx="4894640" cy="4055118"/>
          </a:xfrm>
          <a:custGeom>
            <a:avLst/>
            <a:gdLst/>
            <a:ahLst/>
            <a:cxnLst/>
            <a:rect l="l" t="t" r="r" b="b"/>
            <a:pathLst>
              <a:path w="4894640" h="4055118">
                <a:moveTo>
                  <a:pt x="0" y="0"/>
                </a:moveTo>
                <a:lnTo>
                  <a:pt x="4894640" y="0"/>
                </a:lnTo>
                <a:lnTo>
                  <a:pt x="4894640" y="4055118"/>
                </a:lnTo>
                <a:lnTo>
                  <a:pt x="0" y="40551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2166490" y="-395035"/>
            <a:ext cx="4966678" cy="4114800"/>
          </a:xfrm>
          <a:custGeom>
            <a:avLst/>
            <a:gdLst/>
            <a:ahLst/>
            <a:cxnLst/>
            <a:rect l="l" t="t" r="r" b="b"/>
            <a:pathLst>
              <a:path w="4966678" h="4114800">
                <a:moveTo>
                  <a:pt x="0" y="0"/>
                </a:moveTo>
                <a:lnTo>
                  <a:pt x="4966678" y="0"/>
                </a:lnTo>
                <a:lnTo>
                  <a:pt x="49666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695999" y="2521914"/>
            <a:ext cx="13850122" cy="7068051"/>
            <a:chOff x="0" y="0"/>
            <a:chExt cx="3647769" cy="1861544"/>
          </a:xfrm>
        </p:grpSpPr>
        <p:sp>
          <p:nvSpPr>
            <p:cNvPr id="5" name="Freeform 5"/>
            <p:cNvSpPr/>
            <p:nvPr/>
          </p:nvSpPr>
          <p:spPr>
            <a:xfrm>
              <a:off x="0" y="0"/>
              <a:ext cx="3647769" cy="1861544"/>
            </a:xfrm>
            <a:custGeom>
              <a:avLst/>
              <a:gdLst/>
              <a:ahLst/>
              <a:cxnLst/>
              <a:rect l="l" t="t" r="r" b="b"/>
              <a:pathLst>
                <a:path w="3647769" h="1861544">
                  <a:moveTo>
                    <a:pt x="55898" y="0"/>
                  </a:moveTo>
                  <a:lnTo>
                    <a:pt x="3591871" y="0"/>
                  </a:lnTo>
                  <a:cubicBezTo>
                    <a:pt x="3622742" y="0"/>
                    <a:pt x="3647769" y="25026"/>
                    <a:pt x="3647769" y="55898"/>
                  </a:cubicBezTo>
                  <a:lnTo>
                    <a:pt x="3647769" y="1805646"/>
                  </a:lnTo>
                  <a:cubicBezTo>
                    <a:pt x="3647769" y="1820471"/>
                    <a:pt x="3641880" y="1834689"/>
                    <a:pt x="3631397" y="1845172"/>
                  </a:cubicBezTo>
                  <a:cubicBezTo>
                    <a:pt x="3620914" y="1855655"/>
                    <a:pt x="3606696" y="1861544"/>
                    <a:pt x="3591871" y="1861544"/>
                  </a:cubicBezTo>
                  <a:lnTo>
                    <a:pt x="55898" y="1861544"/>
                  </a:lnTo>
                  <a:cubicBezTo>
                    <a:pt x="25026" y="1861544"/>
                    <a:pt x="0" y="1836518"/>
                    <a:pt x="0" y="1805646"/>
                  </a:cubicBezTo>
                  <a:lnTo>
                    <a:pt x="0" y="55898"/>
                  </a:lnTo>
                  <a:cubicBezTo>
                    <a:pt x="0" y="25026"/>
                    <a:pt x="25026" y="0"/>
                    <a:pt x="55898" y="0"/>
                  </a:cubicBezTo>
                  <a:close/>
                </a:path>
              </a:pathLst>
            </a:custGeom>
            <a:solidFill>
              <a:srgbClr val="FAFAFA"/>
            </a:solidFill>
          </p:spPr>
        </p:sp>
        <p:sp>
          <p:nvSpPr>
            <p:cNvPr id="6" name="TextBox 6"/>
            <p:cNvSpPr txBox="1"/>
            <p:nvPr/>
          </p:nvSpPr>
          <p:spPr>
            <a:xfrm>
              <a:off x="0" y="-314325"/>
              <a:ext cx="3647769" cy="2175869"/>
            </a:xfrm>
            <a:prstGeom prst="rect">
              <a:avLst/>
            </a:prstGeom>
          </p:spPr>
          <p:txBody>
            <a:bodyPr lIns="50800" tIns="50800" rIns="50800" bIns="50800" rtlCol="0" anchor="ctr"/>
            <a:lstStyle/>
            <a:p>
              <a:pPr algn="ctr">
                <a:lnSpc>
                  <a:spcPts val="8959"/>
                </a:lnSpc>
              </a:pPr>
              <a:endParaRPr/>
            </a:p>
          </p:txBody>
        </p:sp>
      </p:grpSp>
      <p:sp>
        <p:nvSpPr>
          <p:cNvPr id="7" name="TextBox 7"/>
          <p:cNvSpPr txBox="1"/>
          <p:nvPr/>
        </p:nvSpPr>
        <p:spPr>
          <a:xfrm>
            <a:off x="157431" y="3060489"/>
            <a:ext cx="10227411" cy="1085215"/>
          </a:xfrm>
          <a:prstGeom prst="rect">
            <a:avLst/>
          </a:prstGeom>
        </p:spPr>
        <p:txBody>
          <a:bodyPr lIns="0" tIns="0" rIns="0" bIns="0" rtlCol="0" anchor="t">
            <a:spAutoFit/>
          </a:bodyPr>
          <a:lstStyle/>
          <a:p>
            <a:pPr algn="ctr">
              <a:lnSpc>
                <a:spcPts val="8959"/>
              </a:lnSpc>
            </a:pPr>
            <a:r>
              <a:rPr lang="en-US" sz="6399" b="1">
                <a:solidFill>
                  <a:srgbClr val="004A7C"/>
                </a:solidFill>
                <a:latin typeface="Assistant Ultra-Bold"/>
                <a:ea typeface="Assistant Ultra-Bold"/>
                <a:cs typeface="Assistant Ultra-Bold"/>
                <a:sym typeface="Assistant Ultra-Bold"/>
              </a:rPr>
              <a:t>Group No:43</a:t>
            </a:r>
          </a:p>
        </p:txBody>
      </p:sp>
      <p:sp>
        <p:nvSpPr>
          <p:cNvPr id="8" name="TextBox 8"/>
          <p:cNvSpPr txBox="1"/>
          <p:nvPr/>
        </p:nvSpPr>
        <p:spPr>
          <a:xfrm>
            <a:off x="2374249" y="4220567"/>
            <a:ext cx="10152074" cy="4020410"/>
          </a:xfrm>
          <a:prstGeom prst="rect">
            <a:avLst/>
          </a:prstGeom>
        </p:spPr>
        <p:txBody>
          <a:bodyPr lIns="0" tIns="0" rIns="0" bIns="0" rtlCol="0" anchor="t">
            <a:spAutoFit/>
          </a:bodyPr>
          <a:lstStyle/>
          <a:p>
            <a:pPr algn="ctr">
              <a:lnSpc>
                <a:spcPts val="6404"/>
              </a:lnSpc>
            </a:pPr>
            <a:r>
              <a:rPr lang="en-US" sz="4574" b="1">
                <a:solidFill>
                  <a:srgbClr val="004A7C"/>
                </a:solidFill>
                <a:latin typeface="Assistant Ultra-Bold"/>
                <a:ea typeface="Assistant Ultra-Bold"/>
                <a:cs typeface="Assistant Ultra-Bold"/>
                <a:sym typeface="Assistant Ultra-Bold"/>
              </a:rPr>
              <a:t>Presented By:-  Kishan Mistry(681)</a:t>
            </a:r>
          </a:p>
          <a:p>
            <a:pPr algn="ctr">
              <a:lnSpc>
                <a:spcPts val="6404"/>
              </a:lnSpc>
            </a:pPr>
            <a:r>
              <a:rPr lang="en-US" sz="4574" b="1">
                <a:solidFill>
                  <a:srgbClr val="004A7C"/>
                </a:solidFill>
                <a:latin typeface="Assistant Ultra-Bold"/>
                <a:ea typeface="Assistant Ultra-Bold"/>
                <a:cs typeface="Assistant Ultra-Bold"/>
                <a:sym typeface="Assistant Ultra-Bold"/>
              </a:rPr>
              <a:t>                                      Monil Maisuriya(698)</a:t>
            </a:r>
          </a:p>
          <a:p>
            <a:pPr algn="ctr">
              <a:lnSpc>
                <a:spcPts val="6404"/>
              </a:lnSpc>
            </a:pPr>
            <a:r>
              <a:rPr lang="en-US" sz="4574" b="1">
                <a:solidFill>
                  <a:srgbClr val="004A7C"/>
                </a:solidFill>
                <a:latin typeface="Assistant Ultra-Bold"/>
                <a:ea typeface="Assistant Ultra-Bold"/>
                <a:cs typeface="Assistant Ultra-Bold"/>
                <a:sym typeface="Assistant Ultra-Bold"/>
              </a:rPr>
              <a:t>                                     Vishal Jariwala(886)</a:t>
            </a:r>
          </a:p>
          <a:p>
            <a:pPr algn="ctr">
              <a:lnSpc>
                <a:spcPts val="6404"/>
              </a:lnSpc>
            </a:pPr>
            <a:r>
              <a:rPr lang="en-US" sz="4574" b="1">
                <a:solidFill>
                  <a:srgbClr val="004A7C"/>
                </a:solidFill>
                <a:latin typeface="Assistant Ultra-Bold"/>
                <a:ea typeface="Assistant Ultra-Bold"/>
                <a:cs typeface="Assistant Ultra-Bold"/>
                <a:sym typeface="Assistant Ultra-Bold"/>
              </a:rPr>
              <a:t>                                Meetkumar Vasava(394)</a:t>
            </a:r>
          </a:p>
          <a:p>
            <a:pPr algn="ctr">
              <a:lnSpc>
                <a:spcPts val="6404"/>
              </a:lnSpc>
            </a:pPr>
            <a:endParaRPr lang="en-US" sz="4574" b="1">
              <a:solidFill>
                <a:srgbClr val="004A7C"/>
              </a:solidFill>
              <a:latin typeface="Assistant Ultra-Bold"/>
              <a:ea typeface="Assistant Ultra-Bold"/>
              <a:cs typeface="Assistant Ultra-Bold"/>
              <a:sym typeface="Assistant Ultra-Bold"/>
            </a:endParaRPr>
          </a:p>
        </p:txBody>
      </p:sp>
      <p:sp>
        <p:nvSpPr>
          <p:cNvPr id="9" name="TextBox 9"/>
          <p:cNvSpPr txBox="1"/>
          <p:nvPr/>
        </p:nvSpPr>
        <p:spPr>
          <a:xfrm>
            <a:off x="1625746" y="7650745"/>
            <a:ext cx="12579335" cy="953135"/>
          </a:xfrm>
          <a:prstGeom prst="rect">
            <a:avLst/>
          </a:prstGeom>
        </p:spPr>
        <p:txBody>
          <a:bodyPr lIns="0" tIns="0" rIns="0" bIns="0" rtlCol="0" anchor="t">
            <a:spAutoFit/>
          </a:bodyPr>
          <a:lstStyle/>
          <a:p>
            <a:pPr algn="ctr">
              <a:lnSpc>
                <a:spcPts val="7840"/>
              </a:lnSpc>
            </a:pPr>
            <a:r>
              <a:rPr lang="en-US" sz="5600" b="1" dirty="0">
                <a:solidFill>
                  <a:srgbClr val="004A7C"/>
                </a:solidFill>
                <a:latin typeface="Assistant Ultra-Bold"/>
                <a:ea typeface="Assistant Ultra-Bold"/>
                <a:cs typeface="Assistant Ultra-Bold"/>
                <a:sym typeface="Assistant Ultra-Bold"/>
              </a:rPr>
              <a:t>Guided By:- </a:t>
            </a:r>
            <a:r>
              <a:rPr lang="en-US" sz="5600" b="1" dirty="0" err="1">
                <a:solidFill>
                  <a:srgbClr val="004A7C"/>
                </a:solidFill>
                <a:latin typeface="Assistant Ultra-Bold"/>
                <a:ea typeface="Assistant Ultra-Bold"/>
                <a:cs typeface="Assistant Ultra-Bold"/>
                <a:sym typeface="Assistant Ultra-Bold"/>
              </a:rPr>
              <a:t>Prof.Jaimini</a:t>
            </a:r>
            <a:r>
              <a:rPr lang="en-US" sz="5600" b="1" dirty="0">
                <a:solidFill>
                  <a:srgbClr val="004A7C"/>
                </a:solidFill>
                <a:latin typeface="Assistant Ultra-Bold"/>
                <a:ea typeface="Assistant Ultra-Bold"/>
                <a:cs typeface="Assistant Ultra-Bold"/>
                <a:sym typeface="Assistant Ultra-Bold"/>
              </a:rPr>
              <a:t> Patel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grpSp>
        <p:nvGrpSpPr>
          <p:cNvPr id="2" name="Group 2"/>
          <p:cNvGrpSpPr/>
          <p:nvPr/>
        </p:nvGrpSpPr>
        <p:grpSpPr>
          <a:xfrm>
            <a:off x="2272028" y="382664"/>
            <a:ext cx="12896002" cy="1292071"/>
            <a:chOff x="0" y="0"/>
            <a:chExt cx="3396478" cy="340299"/>
          </a:xfrm>
        </p:grpSpPr>
        <p:sp>
          <p:nvSpPr>
            <p:cNvPr id="3" name="Freeform 3"/>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4" name="TextBox 4"/>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3782385" y="42693"/>
            <a:ext cx="10924215" cy="1767920"/>
          </a:xfrm>
          <a:prstGeom prst="rect">
            <a:avLst/>
          </a:prstGeom>
        </p:spPr>
        <p:txBody>
          <a:bodyPr wrap="square" lIns="0" tIns="0" rIns="0" bIns="0" rtlCol="0" anchor="t">
            <a:spAutoFit/>
          </a:bodyPr>
          <a:lstStyle/>
          <a:p>
            <a:pPr algn="ctr">
              <a:lnSpc>
                <a:spcPts val="14681"/>
              </a:lnSpc>
            </a:pPr>
            <a:r>
              <a:rPr lang="en-US" sz="10486" b="1" dirty="0">
                <a:solidFill>
                  <a:srgbClr val="004A7C"/>
                </a:solidFill>
                <a:latin typeface="Assistant Ultra-Bold"/>
                <a:ea typeface="Assistant Ultra-Bold"/>
                <a:cs typeface="Assistant Ultra-Bold"/>
                <a:sym typeface="Assistant Ultra-Bold"/>
              </a:rPr>
              <a:t>Member’s Profile</a:t>
            </a:r>
          </a:p>
        </p:txBody>
      </p:sp>
      <p:graphicFrame>
        <p:nvGraphicFramePr>
          <p:cNvPr id="10" name="Table 9">
            <a:extLst>
              <a:ext uri="{FF2B5EF4-FFF2-40B4-BE49-F238E27FC236}">
                <a16:creationId xmlns:a16="http://schemas.microsoft.com/office/drawing/2014/main" id="{3D1232B2-42CD-B340-7BA7-5C153C819E2F}"/>
              </a:ext>
            </a:extLst>
          </p:cNvPr>
          <p:cNvGraphicFramePr>
            <a:graphicFrameLocks noGrp="1"/>
          </p:cNvGraphicFramePr>
          <p:nvPr>
            <p:extLst>
              <p:ext uri="{D42A27DB-BD31-4B8C-83A1-F6EECF244321}">
                <p14:modId xmlns:p14="http://schemas.microsoft.com/office/powerpoint/2010/main" val="2575886803"/>
              </p:ext>
            </p:extLst>
          </p:nvPr>
        </p:nvGraphicFramePr>
        <p:xfrm>
          <a:off x="1676400" y="6134100"/>
          <a:ext cx="6858000" cy="3048000"/>
        </p:xfrm>
        <a:graphic>
          <a:graphicData uri="http://schemas.openxmlformats.org/drawingml/2006/table">
            <a:tbl>
              <a:tblPr firstRow="1" bandRow="1">
                <a:tableStyleId>{073A0DAA-6AF3-43AB-8588-CEC1D06C72B9}</a:tableStyleId>
              </a:tblPr>
              <a:tblGrid>
                <a:gridCol w="1917291">
                  <a:extLst>
                    <a:ext uri="{9D8B030D-6E8A-4147-A177-3AD203B41FA5}">
                      <a16:colId xmlns:a16="http://schemas.microsoft.com/office/drawing/2014/main" val="853701021"/>
                    </a:ext>
                  </a:extLst>
                </a:gridCol>
                <a:gridCol w="4940709">
                  <a:extLst>
                    <a:ext uri="{9D8B030D-6E8A-4147-A177-3AD203B41FA5}">
                      <a16:colId xmlns:a16="http://schemas.microsoft.com/office/drawing/2014/main" val="3519010096"/>
                    </a:ext>
                  </a:extLst>
                </a:gridCol>
              </a:tblGrid>
              <a:tr h="609600">
                <a:tc>
                  <a:txBody>
                    <a:bodyPr/>
                    <a:lstStyle/>
                    <a:p>
                      <a:r>
                        <a:rPr lang="en-US" dirty="0"/>
                        <a:t>Exam No</a:t>
                      </a:r>
                      <a:endParaRPr lang="en-IN" dirty="0"/>
                    </a:p>
                  </a:txBody>
                  <a:tcPr/>
                </a:tc>
                <a:tc>
                  <a:txBody>
                    <a:bodyPr/>
                    <a:lstStyle/>
                    <a:p>
                      <a:r>
                        <a:rPr lang="en-US" dirty="0"/>
                        <a:t>7436</a:t>
                      </a:r>
                      <a:endParaRPr lang="en-IN" dirty="0"/>
                    </a:p>
                  </a:txBody>
                  <a:tcPr/>
                </a:tc>
                <a:extLst>
                  <a:ext uri="{0D108BD9-81ED-4DB2-BD59-A6C34878D82A}">
                    <a16:rowId xmlns:a16="http://schemas.microsoft.com/office/drawing/2014/main" val="4055118055"/>
                  </a:ext>
                </a:extLst>
              </a:tr>
              <a:tr h="609600">
                <a:tc>
                  <a:txBody>
                    <a:bodyPr/>
                    <a:lstStyle/>
                    <a:p>
                      <a:r>
                        <a:rPr lang="en-US" dirty="0"/>
                        <a:t>Name</a:t>
                      </a:r>
                      <a:endParaRPr lang="en-IN" dirty="0"/>
                    </a:p>
                  </a:txBody>
                  <a:tcPr/>
                </a:tc>
                <a:tc>
                  <a:txBody>
                    <a:bodyPr/>
                    <a:lstStyle/>
                    <a:p>
                      <a:r>
                        <a:rPr lang="en-US" dirty="0"/>
                        <a:t>Jariwala </a:t>
                      </a:r>
                      <a:r>
                        <a:rPr lang="en-US" dirty="0" err="1"/>
                        <a:t>Vishalkumar</a:t>
                      </a:r>
                      <a:r>
                        <a:rPr lang="en-US" dirty="0"/>
                        <a:t> </a:t>
                      </a:r>
                      <a:r>
                        <a:rPr lang="en-US" dirty="0" err="1"/>
                        <a:t>Bipinkumar</a:t>
                      </a:r>
                      <a:r>
                        <a:rPr lang="en-US" dirty="0"/>
                        <a:t> </a:t>
                      </a:r>
                      <a:endParaRPr lang="en-IN" dirty="0"/>
                    </a:p>
                  </a:txBody>
                  <a:tcPr/>
                </a:tc>
                <a:extLst>
                  <a:ext uri="{0D108BD9-81ED-4DB2-BD59-A6C34878D82A}">
                    <a16:rowId xmlns:a16="http://schemas.microsoft.com/office/drawing/2014/main" val="3688174326"/>
                  </a:ext>
                </a:extLst>
              </a:tr>
              <a:tr h="609600">
                <a:tc>
                  <a:txBody>
                    <a:bodyPr/>
                    <a:lstStyle/>
                    <a:p>
                      <a:r>
                        <a:rPr lang="en-US" dirty="0"/>
                        <a:t>Roll no</a:t>
                      </a:r>
                      <a:endParaRPr lang="en-IN" dirty="0"/>
                    </a:p>
                  </a:txBody>
                  <a:tcPr/>
                </a:tc>
                <a:tc>
                  <a:txBody>
                    <a:bodyPr/>
                    <a:lstStyle/>
                    <a:p>
                      <a:r>
                        <a:rPr lang="en-US" dirty="0"/>
                        <a:t>886</a:t>
                      </a:r>
                      <a:endParaRPr lang="en-IN" dirty="0"/>
                    </a:p>
                  </a:txBody>
                  <a:tcPr/>
                </a:tc>
                <a:extLst>
                  <a:ext uri="{0D108BD9-81ED-4DB2-BD59-A6C34878D82A}">
                    <a16:rowId xmlns:a16="http://schemas.microsoft.com/office/drawing/2014/main" val="894190113"/>
                  </a:ext>
                </a:extLst>
              </a:tr>
              <a:tr h="609600">
                <a:tc>
                  <a:txBody>
                    <a:bodyPr/>
                    <a:lstStyle/>
                    <a:p>
                      <a:r>
                        <a:rPr lang="en-US" dirty="0"/>
                        <a:t>Division </a:t>
                      </a:r>
                      <a:endParaRPr lang="en-IN" dirty="0"/>
                    </a:p>
                  </a:txBody>
                  <a:tcPr/>
                </a:tc>
                <a:tc>
                  <a:txBody>
                    <a:bodyPr/>
                    <a:lstStyle/>
                    <a:p>
                      <a:r>
                        <a:rPr lang="en-US" dirty="0"/>
                        <a:t>H</a:t>
                      </a:r>
                      <a:endParaRPr lang="en-IN" dirty="0"/>
                    </a:p>
                  </a:txBody>
                  <a:tcPr/>
                </a:tc>
                <a:extLst>
                  <a:ext uri="{0D108BD9-81ED-4DB2-BD59-A6C34878D82A}">
                    <a16:rowId xmlns:a16="http://schemas.microsoft.com/office/drawing/2014/main" val="2881589244"/>
                  </a:ext>
                </a:extLst>
              </a:tr>
              <a:tr h="609600">
                <a:tc>
                  <a:txBody>
                    <a:bodyPr/>
                    <a:lstStyle/>
                    <a:p>
                      <a:r>
                        <a:rPr lang="en-US" dirty="0"/>
                        <a:t>Year</a:t>
                      </a:r>
                      <a:endParaRPr lang="en-IN" dirty="0"/>
                    </a:p>
                  </a:txBody>
                  <a:tcPr/>
                </a:tc>
                <a:tc>
                  <a:txBody>
                    <a:bodyPr/>
                    <a:lstStyle/>
                    <a:p>
                      <a:r>
                        <a:rPr lang="en-US" dirty="0"/>
                        <a:t>TYBCA</a:t>
                      </a:r>
                      <a:endParaRPr lang="en-IN" dirty="0"/>
                    </a:p>
                  </a:txBody>
                  <a:tcPr/>
                </a:tc>
                <a:extLst>
                  <a:ext uri="{0D108BD9-81ED-4DB2-BD59-A6C34878D82A}">
                    <a16:rowId xmlns:a16="http://schemas.microsoft.com/office/drawing/2014/main" val="3171936697"/>
                  </a:ext>
                </a:extLst>
              </a:tr>
            </a:tbl>
          </a:graphicData>
        </a:graphic>
      </p:graphicFrame>
      <p:graphicFrame>
        <p:nvGraphicFramePr>
          <p:cNvPr id="7" name="Table 6">
            <a:extLst>
              <a:ext uri="{FF2B5EF4-FFF2-40B4-BE49-F238E27FC236}">
                <a16:creationId xmlns:a16="http://schemas.microsoft.com/office/drawing/2014/main" id="{74AEE005-012D-BC7F-1EF2-11A84A785D1E}"/>
              </a:ext>
            </a:extLst>
          </p:cNvPr>
          <p:cNvGraphicFramePr>
            <a:graphicFrameLocks noGrp="1"/>
          </p:cNvGraphicFramePr>
          <p:nvPr>
            <p:extLst>
              <p:ext uri="{D42A27DB-BD31-4B8C-83A1-F6EECF244321}">
                <p14:modId xmlns:p14="http://schemas.microsoft.com/office/powerpoint/2010/main" val="916814057"/>
              </p:ext>
            </p:extLst>
          </p:nvPr>
        </p:nvGraphicFramePr>
        <p:xfrm>
          <a:off x="1676400" y="2587329"/>
          <a:ext cx="6858000" cy="3048000"/>
        </p:xfrm>
        <a:graphic>
          <a:graphicData uri="http://schemas.openxmlformats.org/drawingml/2006/table">
            <a:tbl>
              <a:tblPr firstRow="1" bandRow="1">
                <a:tableStyleId>{073A0DAA-6AF3-43AB-8588-CEC1D06C72B9}</a:tableStyleId>
              </a:tblPr>
              <a:tblGrid>
                <a:gridCol w="1917291">
                  <a:extLst>
                    <a:ext uri="{9D8B030D-6E8A-4147-A177-3AD203B41FA5}">
                      <a16:colId xmlns:a16="http://schemas.microsoft.com/office/drawing/2014/main" val="853701021"/>
                    </a:ext>
                  </a:extLst>
                </a:gridCol>
                <a:gridCol w="4940709">
                  <a:extLst>
                    <a:ext uri="{9D8B030D-6E8A-4147-A177-3AD203B41FA5}">
                      <a16:colId xmlns:a16="http://schemas.microsoft.com/office/drawing/2014/main" val="3519010096"/>
                    </a:ext>
                  </a:extLst>
                </a:gridCol>
              </a:tblGrid>
              <a:tr h="609600">
                <a:tc>
                  <a:txBody>
                    <a:bodyPr/>
                    <a:lstStyle/>
                    <a:p>
                      <a:r>
                        <a:rPr lang="en-US" dirty="0"/>
                        <a:t>Exam No</a:t>
                      </a:r>
                      <a:endParaRPr lang="en-IN" dirty="0"/>
                    </a:p>
                  </a:txBody>
                  <a:tcPr/>
                </a:tc>
                <a:tc>
                  <a:txBody>
                    <a:bodyPr/>
                    <a:lstStyle/>
                    <a:p>
                      <a:r>
                        <a:rPr lang="en-US" dirty="0"/>
                        <a:t>7581</a:t>
                      </a:r>
                      <a:endParaRPr lang="en-IN" dirty="0"/>
                    </a:p>
                  </a:txBody>
                  <a:tcPr/>
                </a:tc>
                <a:extLst>
                  <a:ext uri="{0D108BD9-81ED-4DB2-BD59-A6C34878D82A}">
                    <a16:rowId xmlns:a16="http://schemas.microsoft.com/office/drawing/2014/main" val="4055118055"/>
                  </a:ext>
                </a:extLst>
              </a:tr>
              <a:tr h="609600">
                <a:tc>
                  <a:txBody>
                    <a:bodyPr/>
                    <a:lstStyle/>
                    <a:p>
                      <a:r>
                        <a:rPr lang="en-US" dirty="0"/>
                        <a:t>Name</a:t>
                      </a:r>
                      <a:endParaRPr lang="en-IN" dirty="0"/>
                    </a:p>
                  </a:txBody>
                  <a:tcPr/>
                </a:tc>
                <a:tc>
                  <a:txBody>
                    <a:bodyPr/>
                    <a:lstStyle/>
                    <a:p>
                      <a:r>
                        <a:rPr lang="en-US" dirty="0"/>
                        <a:t>Mistry Kishan </a:t>
                      </a:r>
                      <a:r>
                        <a:rPr lang="en-US" dirty="0" err="1"/>
                        <a:t>Jayeshkumar</a:t>
                      </a:r>
                      <a:r>
                        <a:rPr lang="en-US" dirty="0"/>
                        <a:t> </a:t>
                      </a:r>
                      <a:endParaRPr lang="en-IN" dirty="0"/>
                    </a:p>
                  </a:txBody>
                  <a:tcPr/>
                </a:tc>
                <a:extLst>
                  <a:ext uri="{0D108BD9-81ED-4DB2-BD59-A6C34878D82A}">
                    <a16:rowId xmlns:a16="http://schemas.microsoft.com/office/drawing/2014/main" val="3688174326"/>
                  </a:ext>
                </a:extLst>
              </a:tr>
              <a:tr h="609600">
                <a:tc>
                  <a:txBody>
                    <a:bodyPr/>
                    <a:lstStyle/>
                    <a:p>
                      <a:r>
                        <a:rPr lang="en-US" dirty="0"/>
                        <a:t>Roll no</a:t>
                      </a:r>
                      <a:endParaRPr lang="en-IN" dirty="0"/>
                    </a:p>
                  </a:txBody>
                  <a:tcPr/>
                </a:tc>
                <a:tc>
                  <a:txBody>
                    <a:bodyPr/>
                    <a:lstStyle/>
                    <a:p>
                      <a:r>
                        <a:rPr lang="en-US" dirty="0"/>
                        <a:t>681</a:t>
                      </a:r>
                      <a:endParaRPr lang="en-IN" dirty="0"/>
                    </a:p>
                  </a:txBody>
                  <a:tcPr/>
                </a:tc>
                <a:extLst>
                  <a:ext uri="{0D108BD9-81ED-4DB2-BD59-A6C34878D82A}">
                    <a16:rowId xmlns:a16="http://schemas.microsoft.com/office/drawing/2014/main" val="894190113"/>
                  </a:ext>
                </a:extLst>
              </a:tr>
              <a:tr h="609600">
                <a:tc>
                  <a:txBody>
                    <a:bodyPr/>
                    <a:lstStyle/>
                    <a:p>
                      <a:r>
                        <a:rPr lang="en-US" dirty="0"/>
                        <a:t>Division </a:t>
                      </a:r>
                      <a:endParaRPr lang="en-IN" dirty="0"/>
                    </a:p>
                  </a:txBody>
                  <a:tcPr/>
                </a:tc>
                <a:tc>
                  <a:txBody>
                    <a:bodyPr/>
                    <a:lstStyle/>
                    <a:p>
                      <a:r>
                        <a:rPr lang="en-US" dirty="0"/>
                        <a:t>G</a:t>
                      </a:r>
                      <a:endParaRPr lang="en-IN" dirty="0"/>
                    </a:p>
                  </a:txBody>
                  <a:tcPr/>
                </a:tc>
                <a:extLst>
                  <a:ext uri="{0D108BD9-81ED-4DB2-BD59-A6C34878D82A}">
                    <a16:rowId xmlns:a16="http://schemas.microsoft.com/office/drawing/2014/main" val="2881589244"/>
                  </a:ext>
                </a:extLst>
              </a:tr>
              <a:tr h="609600">
                <a:tc>
                  <a:txBody>
                    <a:bodyPr/>
                    <a:lstStyle/>
                    <a:p>
                      <a:r>
                        <a:rPr lang="en-US" dirty="0"/>
                        <a:t>Year</a:t>
                      </a:r>
                      <a:endParaRPr lang="en-IN" dirty="0"/>
                    </a:p>
                  </a:txBody>
                  <a:tcPr/>
                </a:tc>
                <a:tc>
                  <a:txBody>
                    <a:bodyPr/>
                    <a:lstStyle/>
                    <a:p>
                      <a:r>
                        <a:rPr lang="en-US" dirty="0"/>
                        <a:t>TYBCA</a:t>
                      </a:r>
                      <a:endParaRPr lang="en-IN" dirty="0"/>
                    </a:p>
                  </a:txBody>
                  <a:tcPr/>
                </a:tc>
                <a:extLst>
                  <a:ext uri="{0D108BD9-81ED-4DB2-BD59-A6C34878D82A}">
                    <a16:rowId xmlns:a16="http://schemas.microsoft.com/office/drawing/2014/main" val="3171936697"/>
                  </a:ext>
                </a:extLst>
              </a:tr>
            </a:tbl>
          </a:graphicData>
        </a:graphic>
      </p:graphicFrame>
      <p:graphicFrame>
        <p:nvGraphicFramePr>
          <p:cNvPr id="11" name="Table 10">
            <a:extLst>
              <a:ext uri="{FF2B5EF4-FFF2-40B4-BE49-F238E27FC236}">
                <a16:creationId xmlns:a16="http://schemas.microsoft.com/office/drawing/2014/main" id="{5E5FD43F-AFEE-D5D2-E3A1-4CC0C4645174}"/>
              </a:ext>
            </a:extLst>
          </p:cNvPr>
          <p:cNvGraphicFramePr>
            <a:graphicFrameLocks noGrp="1"/>
          </p:cNvGraphicFramePr>
          <p:nvPr>
            <p:extLst>
              <p:ext uri="{D42A27DB-BD31-4B8C-83A1-F6EECF244321}">
                <p14:modId xmlns:p14="http://schemas.microsoft.com/office/powerpoint/2010/main" val="1105100544"/>
              </p:ext>
            </p:extLst>
          </p:nvPr>
        </p:nvGraphicFramePr>
        <p:xfrm>
          <a:off x="9961419" y="2656610"/>
          <a:ext cx="6858000" cy="3048000"/>
        </p:xfrm>
        <a:graphic>
          <a:graphicData uri="http://schemas.openxmlformats.org/drawingml/2006/table">
            <a:tbl>
              <a:tblPr firstRow="1" bandRow="1">
                <a:tableStyleId>{073A0DAA-6AF3-43AB-8588-CEC1D06C72B9}</a:tableStyleId>
              </a:tblPr>
              <a:tblGrid>
                <a:gridCol w="1917291">
                  <a:extLst>
                    <a:ext uri="{9D8B030D-6E8A-4147-A177-3AD203B41FA5}">
                      <a16:colId xmlns:a16="http://schemas.microsoft.com/office/drawing/2014/main" val="853701021"/>
                    </a:ext>
                  </a:extLst>
                </a:gridCol>
                <a:gridCol w="4940709">
                  <a:extLst>
                    <a:ext uri="{9D8B030D-6E8A-4147-A177-3AD203B41FA5}">
                      <a16:colId xmlns:a16="http://schemas.microsoft.com/office/drawing/2014/main" val="3519010096"/>
                    </a:ext>
                  </a:extLst>
                </a:gridCol>
              </a:tblGrid>
              <a:tr h="609600">
                <a:tc>
                  <a:txBody>
                    <a:bodyPr/>
                    <a:lstStyle/>
                    <a:p>
                      <a:r>
                        <a:rPr lang="en-US" dirty="0"/>
                        <a:t>Exam No</a:t>
                      </a:r>
                      <a:endParaRPr lang="en-IN" dirty="0"/>
                    </a:p>
                  </a:txBody>
                  <a:tcPr/>
                </a:tc>
                <a:tc>
                  <a:txBody>
                    <a:bodyPr/>
                    <a:lstStyle/>
                    <a:p>
                      <a:r>
                        <a:rPr lang="en-US" dirty="0"/>
                        <a:t>7545</a:t>
                      </a:r>
                      <a:endParaRPr lang="en-IN" dirty="0"/>
                    </a:p>
                  </a:txBody>
                  <a:tcPr/>
                </a:tc>
                <a:extLst>
                  <a:ext uri="{0D108BD9-81ED-4DB2-BD59-A6C34878D82A}">
                    <a16:rowId xmlns:a16="http://schemas.microsoft.com/office/drawing/2014/main" val="4055118055"/>
                  </a:ext>
                </a:extLst>
              </a:tr>
              <a:tr h="609600">
                <a:tc>
                  <a:txBody>
                    <a:bodyPr/>
                    <a:lstStyle/>
                    <a:p>
                      <a:r>
                        <a:rPr lang="en-US" dirty="0"/>
                        <a:t>Name</a:t>
                      </a:r>
                      <a:endParaRPr lang="en-IN" dirty="0"/>
                    </a:p>
                  </a:txBody>
                  <a:tcPr/>
                </a:tc>
                <a:tc>
                  <a:txBody>
                    <a:bodyPr/>
                    <a:lstStyle/>
                    <a:p>
                      <a:r>
                        <a:rPr lang="en-US" dirty="0"/>
                        <a:t>Maisuriya Monil </a:t>
                      </a:r>
                      <a:r>
                        <a:rPr lang="en-US" dirty="0" err="1"/>
                        <a:t>Sharadkumar</a:t>
                      </a:r>
                      <a:endParaRPr lang="en-IN" dirty="0"/>
                    </a:p>
                  </a:txBody>
                  <a:tcPr/>
                </a:tc>
                <a:extLst>
                  <a:ext uri="{0D108BD9-81ED-4DB2-BD59-A6C34878D82A}">
                    <a16:rowId xmlns:a16="http://schemas.microsoft.com/office/drawing/2014/main" val="3688174326"/>
                  </a:ext>
                </a:extLst>
              </a:tr>
              <a:tr h="609600">
                <a:tc>
                  <a:txBody>
                    <a:bodyPr/>
                    <a:lstStyle/>
                    <a:p>
                      <a:r>
                        <a:rPr lang="en-US" dirty="0"/>
                        <a:t>Roll no</a:t>
                      </a:r>
                      <a:endParaRPr lang="en-IN" dirty="0"/>
                    </a:p>
                  </a:txBody>
                  <a:tcPr/>
                </a:tc>
                <a:tc>
                  <a:txBody>
                    <a:bodyPr/>
                    <a:lstStyle/>
                    <a:p>
                      <a:r>
                        <a:rPr lang="en-US" dirty="0"/>
                        <a:t>698</a:t>
                      </a:r>
                      <a:endParaRPr lang="en-IN" dirty="0"/>
                    </a:p>
                  </a:txBody>
                  <a:tcPr/>
                </a:tc>
                <a:extLst>
                  <a:ext uri="{0D108BD9-81ED-4DB2-BD59-A6C34878D82A}">
                    <a16:rowId xmlns:a16="http://schemas.microsoft.com/office/drawing/2014/main" val="894190113"/>
                  </a:ext>
                </a:extLst>
              </a:tr>
              <a:tr h="609600">
                <a:tc>
                  <a:txBody>
                    <a:bodyPr/>
                    <a:lstStyle/>
                    <a:p>
                      <a:r>
                        <a:rPr lang="en-US" dirty="0"/>
                        <a:t>Division </a:t>
                      </a:r>
                      <a:endParaRPr lang="en-IN" dirty="0"/>
                    </a:p>
                  </a:txBody>
                  <a:tcPr/>
                </a:tc>
                <a:tc>
                  <a:txBody>
                    <a:bodyPr/>
                    <a:lstStyle/>
                    <a:p>
                      <a:r>
                        <a:rPr lang="en-US" dirty="0"/>
                        <a:t>G</a:t>
                      </a:r>
                      <a:endParaRPr lang="en-IN" dirty="0"/>
                    </a:p>
                  </a:txBody>
                  <a:tcPr/>
                </a:tc>
                <a:extLst>
                  <a:ext uri="{0D108BD9-81ED-4DB2-BD59-A6C34878D82A}">
                    <a16:rowId xmlns:a16="http://schemas.microsoft.com/office/drawing/2014/main" val="2881589244"/>
                  </a:ext>
                </a:extLst>
              </a:tr>
              <a:tr h="609600">
                <a:tc>
                  <a:txBody>
                    <a:bodyPr/>
                    <a:lstStyle/>
                    <a:p>
                      <a:r>
                        <a:rPr lang="en-US" dirty="0"/>
                        <a:t>Year</a:t>
                      </a:r>
                      <a:endParaRPr lang="en-IN" dirty="0"/>
                    </a:p>
                  </a:txBody>
                  <a:tcPr/>
                </a:tc>
                <a:tc>
                  <a:txBody>
                    <a:bodyPr/>
                    <a:lstStyle/>
                    <a:p>
                      <a:r>
                        <a:rPr lang="en-US" dirty="0"/>
                        <a:t>TYBCA</a:t>
                      </a:r>
                      <a:endParaRPr lang="en-IN" dirty="0"/>
                    </a:p>
                  </a:txBody>
                  <a:tcPr/>
                </a:tc>
                <a:extLst>
                  <a:ext uri="{0D108BD9-81ED-4DB2-BD59-A6C34878D82A}">
                    <a16:rowId xmlns:a16="http://schemas.microsoft.com/office/drawing/2014/main" val="3171936697"/>
                  </a:ext>
                </a:extLst>
              </a:tr>
            </a:tbl>
          </a:graphicData>
        </a:graphic>
      </p:graphicFrame>
      <p:graphicFrame>
        <p:nvGraphicFramePr>
          <p:cNvPr id="12" name="Table 11">
            <a:extLst>
              <a:ext uri="{FF2B5EF4-FFF2-40B4-BE49-F238E27FC236}">
                <a16:creationId xmlns:a16="http://schemas.microsoft.com/office/drawing/2014/main" id="{B98F8B75-5C63-A468-C614-4DF5FAAA3E51}"/>
              </a:ext>
            </a:extLst>
          </p:cNvPr>
          <p:cNvGraphicFramePr>
            <a:graphicFrameLocks noGrp="1"/>
          </p:cNvGraphicFramePr>
          <p:nvPr>
            <p:extLst>
              <p:ext uri="{D42A27DB-BD31-4B8C-83A1-F6EECF244321}">
                <p14:modId xmlns:p14="http://schemas.microsoft.com/office/powerpoint/2010/main" val="3640274654"/>
              </p:ext>
            </p:extLst>
          </p:nvPr>
        </p:nvGraphicFramePr>
        <p:xfrm>
          <a:off x="9909102" y="6152719"/>
          <a:ext cx="6858000" cy="3048000"/>
        </p:xfrm>
        <a:graphic>
          <a:graphicData uri="http://schemas.openxmlformats.org/drawingml/2006/table">
            <a:tbl>
              <a:tblPr firstRow="1" bandRow="1">
                <a:tableStyleId>{073A0DAA-6AF3-43AB-8588-CEC1D06C72B9}</a:tableStyleId>
              </a:tblPr>
              <a:tblGrid>
                <a:gridCol w="1917291">
                  <a:extLst>
                    <a:ext uri="{9D8B030D-6E8A-4147-A177-3AD203B41FA5}">
                      <a16:colId xmlns:a16="http://schemas.microsoft.com/office/drawing/2014/main" val="853701021"/>
                    </a:ext>
                  </a:extLst>
                </a:gridCol>
                <a:gridCol w="4940709">
                  <a:extLst>
                    <a:ext uri="{9D8B030D-6E8A-4147-A177-3AD203B41FA5}">
                      <a16:colId xmlns:a16="http://schemas.microsoft.com/office/drawing/2014/main" val="3519010096"/>
                    </a:ext>
                  </a:extLst>
                </a:gridCol>
              </a:tblGrid>
              <a:tr h="609600">
                <a:tc>
                  <a:txBody>
                    <a:bodyPr/>
                    <a:lstStyle/>
                    <a:p>
                      <a:r>
                        <a:rPr lang="en-US" dirty="0"/>
                        <a:t>Exam No</a:t>
                      </a:r>
                      <a:endParaRPr lang="en-IN" dirty="0"/>
                    </a:p>
                  </a:txBody>
                  <a:tcPr/>
                </a:tc>
                <a:tc>
                  <a:txBody>
                    <a:bodyPr/>
                    <a:lstStyle/>
                    <a:p>
                      <a:r>
                        <a:rPr lang="en-US" dirty="0"/>
                        <a:t>7919</a:t>
                      </a:r>
                      <a:endParaRPr lang="en-IN" dirty="0"/>
                    </a:p>
                  </a:txBody>
                  <a:tcPr/>
                </a:tc>
                <a:extLst>
                  <a:ext uri="{0D108BD9-81ED-4DB2-BD59-A6C34878D82A}">
                    <a16:rowId xmlns:a16="http://schemas.microsoft.com/office/drawing/2014/main" val="4055118055"/>
                  </a:ext>
                </a:extLst>
              </a:tr>
              <a:tr h="609600">
                <a:tc>
                  <a:txBody>
                    <a:bodyPr/>
                    <a:lstStyle/>
                    <a:p>
                      <a:r>
                        <a:rPr lang="en-US" dirty="0"/>
                        <a:t>Name</a:t>
                      </a:r>
                      <a:endParaRPr lang="en-IN" dirty="0"/>
                    </a:p>
                  </a:txBody>
                  <a:tcPr/>
                </a:tc>
                <a:tc>
                  <a:txBody>
                    <a:bodyPr/>
                    <a:lstStyle/>
                    <a:p>
                      <a:r>
                        <a:rPr lang="en-US" dirty="0"/>
                        <a:t>Vasava </a:t>
                      </a:r>
                      <a:r>
                        <a:rPr lang="en-US" dirty="0" err="1"/>
                        <a:t>Meetkumar</a:t>
                      </a:r>
                      <a:r>
                        <a:rPr lang="en-US" dirty="0"/>
                        <a:t> </a:t>
                      </a:r>
                      <a:r>
                        <a:rPr lang="en-US" dirty="0" err="1"/>
                        <a:t>Ravidasbhai</a:t>
                      </a:r>
                      <a:endParaRPr lang="en-IN" dirty="0"/>
                    </a:p>
                  </a:txBody>
                  <a:tcPr/>
                </a:tc>
                <a:extLst>
                  <a:ext uri="{0D108BD9-81ED-4DB2-BD59-A6C34878D82A}">
                    <a16:rowId xmlns:a16="http://schemas.microsoft.com/office/drawing/2014/main" val="3688174326"/>
                  </a:ext>
                </a:extLst>
              </a:tr>
              <a:tr h="609600">
                <a:tc>
                  <a:txBody>
                    <a:bodyPr/>
                    <a:lstStyle/>
                    <a:p>
                      <a:r>
                        <a:rPr lang="en-US" dirty="0"/>
                        <a:t>Roll no</a:t>
                      </a:r>
                      <a:endParaRPr lang="en-IN" dirty="0"/>
                    </a:p>
                  </a:txBody>
                  <a:tcPr/>
                </a:tc>
                <a:tc>
                  <a:txBody>
                    <a:bodyPr/>
                    <a:lstStyle/>
                    <a:p>
                      <a:r>
                        <a:rPr lang="en-US" dirty="0"/>
                        <a:t>394</a:t>
                      </a:r>
                      <a:endParaRPr lang="en-IN" dirty="0"/>
                    </a:p>
                  </a:txBody>
                  <a:tcPr/>
                </a:tc>
                <a:extLst>
                  <a:ext uri="{0D108BD9-81ED-4DB2-BD59-A6C34878D82A}">
                    <a16:rowId xmlns:a16="http://schemas.microsoft.com/office/drawing/2014/main" val="894190113"/>
                  </a:ext>
                </a:extLst>
              </a:tr>
              <a:tr h="609600">
                <a:tc>
                  <a:txBody>
                    <a:bodyPr/>
                    <a:lstStyle/>
                    <a:p>
                      <a:r>
                        <a:rPr lang="en-US" dirty="0"/>
                        <a:t>Division </a:t>
                      </a:r>
                      <a:endParaRPr lang="en-IN" dirty="0"/>
                    </a:p>
                  </a:txBody>
                  <a:tcPr/>
                </a:tc>
                <a:tc>
                  <a:txBody>
                    <a:bodyPr/>
                    <a:lstStyle/>
                    <a:p>
                      <a:r>
                        <a:rPr lang="en-US" dirty="0"/>
                        <a:t>D</a:t>
                      </a:r>
                      <a:endParaRPr lang="en-IN" dirty="0"/>
                    </a:p>
                  </a:txBody>
                  <a:tcPr/>
                </a:tc>
                <a:extLst>
                  <a:ext uri="{0D108BD9-81ED-4DB2-BD59-A6C34878D82A}">
                    <a16:rowId xmlns:a16="http://schemas.microsoft.com/office/drawing/2014/main" val="2881589244"/>
                  </a:ext>
                </a:extLst>
              </a:tr>
              <a:tr h="609600">
                <a:tc>
                  <a:txBody>
                    <a:bodyPr/>
                    <a:lstStyle/>
                    <a:p>
                      <a:r>
                        <a:rPr lang="en-US" dirty="0"/>
                        <a:t>Year</a:t>
                      </a:r>
                      <a:endParaRPr lang="en-IN" dirty="0"/>
                    </a:p>
                  </a:txBody>
                  <a:tcPr/>
                </a:tc>
                <a:tc>
                  <a:txBody>
                    <a:bodyPr/>
                    <a:lstStyle/>
                    <a:p>
                      <a:r>
                        <a:rPr lang="en-US" dirty="0"/>
                        <a:t>TYBCA</a:t>
                      </a:r>
                      <a:endParaRPr lang="en-IN" dirty="0"/>
                    </a:p>
                  </a:txBody>
                  <a:tcPr/>
                </a:tc>
                <a:extLst>
                  <a:ext uri="{0D108BD9-81ED-4DB2-BD59-A6C34878D82A}">
                    <a16:rowId xmlns:a16="http://schemas.microsoft.com/office/drawing/2014/main" val="317193669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4737628" y="2165218"/>
            <a:ext cx="8526422" cy="7767982"/>
          </a:xfrm>
          <a:custGeom>
            <a:avLst/>
            <a:gdLst/>
            <a:ahLst/>
            <a:cxnLst/>
            <a:rect l="l" t="t" r="r" b="b"/>
            <a:pathLst>
              <a:path w="8526422" h="7767982">
                <a:moveTo>
                  <a:pt x="0" y="0"/>
                </a:moveTo>
                <a:lnTo>
                  <a:pt x="8526422" y="0"/>
                </a:lnTo>
                <a:lnTo>
                  <a:pt x="8526422" y="7767982"/>
                </a:lnTo>
                <a:lnTo>
                  <a:pt x="0" y="7767982"/>
                </a:lnTo>
                <a:lnTo>
                  <a:pt x="0" y="0"/>
                </a:lnTo>
                <a:close/>
              </a:path>
            </a:pathLst>
          </a:custGeom>
          <a:blipFill>
            <a:blip r:embed="rId2"/>
            <a:stretch>
              <a:fillRect t="-2668" b="-7095"/>
            </a:stretch>
          </a:blipFill>
        </p:spPr>
      </p:sp>
      <p:grpSp>
        <p:nvGrpSpPr>
          <p:cNvPr id="3" name="Group 3"/>
          <p:cNvGrpSpPr/>
          <p:nvPr/>
        </p:nvGrpSpPr>
        <p:grpSpPr>
          <a:xfrm>
            <a:off x="2695999" y="723675"/>
            <a:ext cx="12896002" cy="1292071"/>
            <a:chOff x="0" y="0"/>
            <a:chExt cx="3396478" cy="340299"/>
          </a:xfrm>
        </p:grpSpPr>
        <p:sp>
          <p:nvSpPr>
            <p:cNvPr id="4" name="Freeform 4"/>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5" name="TextBox 5"/>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754199" y="383704"/>
            <a:ext cx="10779602"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Project 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grpSp>
        <p:nvGrpSpPr>
          <p:cNvPr id="2" name="Group 2"/>
          <p:cNvGrpSpPr/>
          <p:nvPr/>
        </p:nvGrpSpPr>
        <p:grpSpPr>
          <a:xfrm>
            <a:off x="2695999" y="2564311"/>
            <a:ext cx="12896002" cy="1292071"/>
            <a:chOff x="0" y="0"/>
            <a:chExt cx="3396478" cy="340299"/>
          </a:xfrm>
        </p:grpSpPr>
        <p:sp>
          <p:nvSpPr>
            <p:cNvPr id="3" name="Freeform 3"/>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4" name="TextBox 4"/>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518931" y="9258300"/>
            <a:ext cx="4966678" cy="4114800"/>
          </a:xfrm>
          <a:custGeom>
            <a:avLst/>
            <a:gdLst/>
            <a:ahLst/>
            <a:cxnLst/>
            <a:rect l="l" t="t" r="r" b="b"/>
            <a:pathLst>
              <a:path w="4966678" h="4114800">
                <a:moveTo>
                  <a:pt x="0" y="0"/>
                </a:moveTo>
                <a:lnTo>
                  <a:pt x="4966678" y="0"/>
                </a:lnTo>
                <a:lnTo>
                  <a:pt x="49666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4354746" y="2224340"/>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Introduction</a:t>
            </a:r>
          </a:p>
        </p:txBody>
      </p:sp>
      <p:sp>
        <p:nvSpPr>
          <p:cNvPr id="7" name="TextBox 7"/>
          <p:cNvSpPr txBox="1"/>
          <p:nvPr/>
        </p:nvSpPr>
        <p:spPr>
          <a:xfrm>
            <a:off x="230924" y="4524682"/>
            <a:ext cx="17559507" cy="5732595"/>
          </a:xfrm>
          <a:prstGeom prst="rect">
            <a:avLst/>
          </a:prstGeom>
        </p:spPr>
        <p:txBody>
          <a:bodyPr lIns="0" tIns="0" rIns="0" bIns="0" rtlCol="0" anchor="t">
            <a:spAutoFit/>
          </a:bodyPr>
          <a:lstStyle/>
          <a:p>
            <a:pPr algn="ctr">
              <a:lnSpc>
                <a:spcPts val="4493"/>
              </a:lnSpc>
              <a:spcBef>
                <a:spcPct val="0"/>
              </a:spcBef>
            </a:pPr>
            <a:r>
              <a:rPr lang="en-US" sz="3209" dirty="0">
                <a:solidFill>
                  <a:srgbClr val="FAFAFA"/>
                </a:solidFill>
                <a:latin typeface="Century Gothic Paneuropean"/>
                <a:ea typeface="Century Gothic Paneuropean"/>
                <a:cs typeface="Century Gothic Paneuropean"/>
                <a:sym typeface="Century Gothic Paneuropean"/>
              </a:rPr>
              <a:t>The Smart hire job portal System is designed to overcome these challenges by using technology to make the process easier and faster. It is a web-based platform where both employers and job seekers can interact. Job seekers can create an account, build their profile, upload their resume, and apply for jobs that match their skills. Employers can register, post job openings, review candidate applications, and shortlist suitable candidates directly through the system.</a:t>
            </a:r>
          </a:p>
          <a:p>
            <a:pPr algn="ctr">
              <a:lnSpc>
                <a:spcPts val="4493"/>
              </a:lnSpc>
              <a:spcBef>
                <a:spcPct val="0"/>
              </a:spcBef>
            </a:pPr>
            <a:endParaRPr lang="en-US" sz="3209" dirty="0">
              <a:solidFill>
                <a:srgbClr val="FAFAFA"/>
              </a:solidFill>
              <a:latin typeface="Century Gothic Paneuropean"/>
              <a:ea typeface="Century Gothic Paneuropean"/>
              <a:cs typeface="Century Gothic Paneuropean"/>
              <a:sym typeface="Century Gothic Paneuropean"/>
            </a:endParaRPr>
          </a:p>
          <a:p>
            <a:pPr algn="ctr">
              <a:lnSpc>
                <a:spcPts val="4493"/>
              </a:lnSpc>
              <a:spcBef>
                <a:spcPct val="0"/>
              </a:spcBef>
            </a:pPr>
            <a:endParaRPr lang="en-US" sz="3209" dirty="0">
              <a:solidFill>
                <a:srgbClr val="FAFAFA"/>
              </a:solidFill>
              <a:latin typeface="Century Gothic Paneuropean"/>
              <a:ea typeface="Century Gothic Paneuropean"/>
              <a:cs typeface="Century Gothic Paneuropean"/>
              <a:sym typeface="Century Gothic Paneuropean"/>
            </a:endParaRPr>
          </a:p>
          <a:p>
            <a:pPr algn="ctr">
              <a:lnSpc>
                <a:spcPts val="4493"/>
              </a:lnSpc>
              <a:spcBef>
                <a:spcPct val="0"/>
              </a:spcBef>
            </a:pPr>
            <a:endParaRPr lang="en-US" sz="3209" dirty="0">
              <a:solidFill>
                <a:srgbClr val="FAFAFA"/>
              </a:solidFill>
              <a:latin typeface="Century Gothic Paneuropean"/>
              <a:ea typeface="Century Gothic Paneuropean"/>
              <a:cs typeface="Century Gothic Paneuropean"/>
              <a:sym typeface="Century Gothic Paneuropean"/>
            </a:endParaRPr>
          </a:p>
          <a:p>
            <a:pPr algn="ctr">
              <a:lnSpc>
                <a:spcPts val="4493"/>
              </a:lnSpc>
              <a:spcBef>
                <a:spcPct val="0"/>
              </a:spcBef>
            </a:pPr>
            <a:endParaRPr lang="en-US" sz="3209" dirty="0">
              <a:solidFill>
                <a:srgbClr val="FAFAFA"/>
              </a:solidFill>
              <a:latin typeface="Century Gothic Paneuropean"/>
              <a:ea typeface="Century Gothic Paneuropean"/>
              <a:cs typeface="Century Gothic Paneuropean"/>
              <a:sym typeface="Century Gothic Paneuropean"/>
            </a:endParaRPr>
          </a:p>
        </p:txBody>
      </p:sp>
      <p:sp>
        <p:nvSpPr>
          <p:cNvPr id="8" name="Freeform 8"/>
          <p:cNvSpPr/>
          <p:nvPr/>
        </p:nvSpPr>
        <p:spPr>
          <a:xfrm flipH="1" flipV="1">
            <a:off x="15814186" y="-3086100"/>
            <a:ext cx="4966678" cy="4114800"/>
          </a:xfrm>
          <a:custGeom>
            <a:avLst/>
            <a:gdLst/>
            <a:ahLst/>
            <a:cxnLst/>
            <a:rect l="l" t="t" r="r" b="b"/>
            <a:pathLst>
              <a:path w="4966678" h="4114800">
                <a:moveTo>
                  <a:pt x="4966678" y="4114800"/>
                </a:moveTo>
                <a:lnTo>
                  <a:pt x="0" y="4114800"/>
                </a:lnTo>
                <a:lnTo>
                  <a:pt x="0" y="0"/>
                </a:lnTo>
                <a:lnTo>
                  <a:pt x="4966678" y="0"/>
                </a:lnTo>
                <a:lnTo>
                  <a:pt x="4966678" y="411480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15509949" y="6167220"/>
            <a:ext cx="2798064" cy="4114800"/>
          </a:xfrm>
          <a:custGeom>
            <a:avLst/>
            <a:gdLst/>
            <a:ahLst/>
            <a:cxnLst/>
            <a:rect l="l" t="t" r="r" b="b"/>
            <a:pathLst>
              <a:path w="2798064" h="4114800">
                <a:moveTo>
                  <a:pt x="0" y="0"/>
                </a:moveTo>
                <a:lnTo>
                  <a:pt x="2798064" y="0"/>
                </a:lnTo>
                <a:lnTo>
                  <a:pt x="27980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0" y="-259953"/>
            <a:ext cx="2798064" cy="4114800"/>
          </a:xfrm>
          <a:custGeom>
            <a:avLst/>
            <a:gdLst/>
            <a:ahLst/>
            <a:cxnLst/>
            <a:rect l="l" t="t" r="r" b="b"/>
            <a:pathLst>
              <a:path w="2798064" h="4114800">
                <a:moveTo>
                  <a:pt x="2798064" y="4114800"/>
                </a:moveTo>
                <a:lnTo>
                  <a:pt x="0" y="4114800"/>
                </a:lnTo>
                <a:lnTo>
                  <a:pt x="0" y="0"/>
                </a:lnTo>
                <a:lnTo>
                  <a:pt x="2798064" y="0"/>
                </a:lnTo>
                <a:lnTo>
                  <a:pt x="2798064" y="411480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3002772" y="505376"/>
            <a:ext cx="12896002" cy="1292071"/>
            <a:chOff x="0" y="0"/>
            <a:chExt cx="3396478" cy="340299"/>
          </a:xfrm>
        </p:grpSpPr>
        <p:sp>
          <p:nvSpPr>
            <p:cNvPr id="5" name="Freeform 5"/>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6" name="TextBox 6"/>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3854656" y="2158165"/>
            <a:ext cx="10067400" cy="7693229"/>
          </a:xfrm>
          <a:custGeom>
            <a:avLst/>
            <a:gdLst/>
            <a:ahLst/>
            <a:cxnLst/>
            <a:rect l="l" t="t" r="r" b="b"/>
            <a:pathLst>
              <a:path w="10067400" h="7693229">
                <a:moveTo>
                  <a:pt x="0" y="0"/>
                </a:moveTo>
                <a:lnTo>
                  <a:pt x="10067400" y="0"/>
                </a:lnTo>
                <a:lnTo>
                  <a:pt x="10067400" y="7693229"/>
                </a:lnTo>
                <a:lnTo>
                  <a:pt x="0" y="7693229"/>
                </a:lnTo>
                <a:lnTo>
                  <a:pt x="0" y="0"/>
                </a:lnTo>
                <a:close/>
              </a:path>
            </a:pathLst>
          </a:custGeom>
          <a:blipFill>
            <a:blip r:embed="rId4"/>
            <a:stretch>
              <a:fillRect l="-2501" t="-3091" r="-2537"/>
            </a:stretch>
          </a:blipFill>
        </p:spPr>
      </p:sp>
      <p:sp>
        <p:nvSpPr>
          <p:cNvPr id="8" name="TextBox 8"/>
          <p:cNvSpPr txBox="1"/>
          <p:nvPr/>
        </p:nvSpPr>
        <p:spPr>
          <a:xfrm>
            <a:off x="4170683" y="165405"/>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Work-Flow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14854259" y="9384387"/>
            <a:ext cx="3433741" cy="3613939"/>
          </a:xfrm>
          <a:custGeom>
            <a:avLst/>
            <a:gdLst/>
            <a:ahLst/>
            <a:cxnLst/>
            <a:rect l="l" t="t" r="r" b="b"/>
            <a:pathLst>
              <a:path w="3433741" h="3613939">
                <a:moveTo>
                  <a:pt x="0" y="0"/>
                </a:moveTo>
                <a:lnTo>
                  <a:pt x="3433741" y="0"/>
                </a:lnTo>
                <a:lnTo>
                  <a:pt x="3433741" y="3613938"/>
                </a:lnTo>
                <a:lnTo>
                  <a:pt x="0" y="36139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4257824"/>
            <a:ext cx="4967696" cy="5228394"/>
          </a:xfrm>
          <a:custGeom>
            <a:avLst/>
            <a:gdLst/>
            <a:ahLst/>
            <a:cxnLst/>
            <a:rect l="l" t="t" r="r" b="b"/>
            <a:pathLst>
              <a:path w="4967696" h="5228394">
                <a:moveTo>
                  <a:pt x="0" y="0"/>
                </a:moveTo>
                <a:lnTo>
                  <a:pt x="4967696" y="0"/>
                </a:lnTo>
                <a:lnTo>
                  <a:pt x="4967696" y="5228394"/>
                </a:lnTo>
                <a:lnTo>
                  <a:pt x="0" y="52283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5642541" y="77279"/>
            <a:ext cx="2645459" cy="3415699"/>
          </a:xfrm>
          <a:custGeom>
            <a:avLst/>
            <a:gdLst/>
            <a:ahLst/>
            <a:cxnLst/>
            <a:rect l="l" t="t" r="r" b="b"/>
            <a:pathLst>
              <a:path w="2645459" h="3415699">
                <a:moveTo>
                  <a:pt x="0" y="3415699"/>
                </a:moveTo>
                <a:lnTo>
                  <a:pt x="2645459" y="3415699"/>
                </a:lnTo>
                <a:lnTo>
                  <a:pt x="2645459" y="0"/>
                </a:lnTo>
                <a:lnTo>
                  <a:pt x="0" y="0"/>
                </a:lnTo>
                <a:lnTo>
                  <a:pt x="0" y="341569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0" y="6871301"/>
            <a:ext cx="2645459" cy="3415699"/>
          </a:xfrm>
          <a:custGeom>
            <a:avLst/>
            <a:gdLst/>
            <a:ahLst/>
            <a:cxnLst/>
            <a:rect l="l" t="t" r="r" b="b"/>
            <a:pathLst>
              <a:path w="2645459" h="3415699">
                <a:moveTo>
                  <a:pt x="2645459" y="0"/>
                </a:moveTo>
                <a:lnTo>
                  <a:pt x="0" y="0"/>
                </a:lnTo>
                <a:lnTo>
                  <a:pt x="0" y="3415699"/>
                </a:lnTo>
                <a:lnTo>
                  <a:pt x="2645459" y="3415699"/>
                </a:lnTo>
                <a:lnTo>
                  <a:pt x="2645459"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2746539" y="324534"/>
            <a:ext cx="12896002" cy="1292071"/>
            <a:chOff x="0" y="0"/>
            <a:chExt cx="3396478" cy="340299"/>
          </a:xfrm>
        </p:grpSpPr>
        <p:sp>
          <p:nvSpPr>
            <p:cNvPr id="7" name="Freeform 7"/>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8" name="TextBox 8"/>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3242576" y="1936685"/>
            <a:ext cx="11802848" cy="7640720"/>
          </a:xfrm>
          <a:custGeom>
            <a:avLst/>
            <a:gdLst/>
            <a:ahLst/>
            <a:cxnLst/>
            <a:rect l="l" t="t" r="r" b="b"/>
            <a:pathLst>
              <a:path w="11802848" h="7640720">
                <a:moveTo>
                  <a:pt x="0" y="0"/>
                </a:moveTo>
                <a:lnTo>
                  <a:pt x="11802848" y="0"/>
                </a:lnTo>
                <a:lnTo>
                  <a:pt x="11802848" y="7640721"/>
                </a:lnTo>
                <a:lnTo>
                  <a:pt x="0" y="7640721"/>
                </a:lnTo>
                <a:lnTo>
                  <a:pt x="0" y="0"/>
                </a:lnTo>
                <a:close/>
              </a:path>
            </a:pathLst>
          </a:custGeom>
          <a:blipFill>
            <a:blip r:embed="rId6"/>
            <a:stretch>
              <a:fillRect l="-385" t="-5073" r="-385"/>
            </a:stretch>
          </a:blipFill>
        </p:spPr>
      </p:sp>
      <p:sp>
        <p:nvSpPr>
          <p:cNvPr id="10" name="TextBox 10"/>
          <p:cNvSpPr txBox="1"/>
          <p:nvPr/>
        </p:nvSpPr>
        <p:spPr>
          <a:xfrm>
            <a:off x="6014707" y="3614"/>
            <a:ext cx="5726846"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Features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838581" y="7552086"/>
            <a:ext cx="3734563" cy="4114800"/>
          </a:xfrm>
          <a:custGeom>
            <a:avLst/>
            <a:gdLst/>
            <a:ahLst/>
            <a:cxnLst/>
            <a:rect l="l" t="t" r="r" b="b"/>
            <a:pathLst>
              <a:path w="3734563" h="4114800">
                <a:moveTo>
                  <a:pt x="0" y="0"/>
                </a:moveTo>
                <a:lnTo>
                  <a:pt x="3734562" y="0"/>
                </a:lnTo>
                <a:lnTo>
                  <a:pt x="3734562" y="4114800"/>
                </a:lnTo>
                <a:lnTo>
                  <a:pt x="0" y="4114800"/>
                </a:lnTo>
                <a:lnTo>
                  <a:pt x="0" y="0"/>
                </a:lnTo>
                <a:close/>
              </a:path>
            </a:pathLst>
          </a:custGeom>
          <a:blipFill>
            <a:blip r:embed="rId2">
              <a:alphaModFix amt="46000"/>
              <a:extLst>
                <a:ext uri="{96DAC541-7B7A-43D3-8B79-37D633B846F1}">
                  <asvg:svgBlip xmlns:asvg="http://schemas.microsoft.com/office/drawing/2016/SVG/main" r:embed="rId3"/>
                </a:ext>
              </a:extLst>
            </a:blip>
            <a:stretch>
              <a:fillRect/>
            </a:stretch>
          </a:blipFill>
        </p:spPr>
      </p:sp>
      <p:sp>
        <p:nvSpPr>
          <p:cNvPr id="3" name="Freeform 3"/>
          <p:cNvSpPr/>
          <p:nvPr/>
        </p:nvSpPr>
        <p:spPr>
          <a:xfrm>
            <a:off x="14806153" y="-1645542"/>
            <a:ext cx="3734563" cy="4114800"/>
          </a:xfrm>
          <a:custGeom>
            <a:avLst/>
            <a:gdLst/>
            <a:ahLst/>
            <a:cxnLst/>
            <a:rect l="l" t="t" r="r" b="b"/>
            <a:pathLst>
              <a:path w="3734563" h="4114800">
                <a:moveTo>
                  <a:pt x="0" y="0"/>
                </a:moveTo>
                <a:lnTo>
                  <a:pt x="3734563" y="0"/>
                </a:lnTo>
                <a:lnTo>
                  <a:pt x="3734563" y="4114800"/>
                </a:lnTo>
                <a:lnTo>
                  <a:pt x="0" y="4114800"/>
                </a:lnTo>
                <a:lnTo>
                  <a:pt x="0" y="0"/>
                </a:lnTo>
                <a:close/>
              </a:path>
            </a:pathLst>
          </a:custGeom>
          <a:blipFill>
            <a:blip r:embed="rId2">
              <a:alphaModFix amt="59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695999" y="382664"/>
            <a:ext cx="12896002" cy="1292071"/>
            <a:chOff x="0" y="0"/>
            <a:chExt cx="3396478" cy="340299"/>
          </a:xfrm>
        </p:grpSpPr>
        <p:sp>
          <p:nvSpPr>
            <p:cNvPr id="5" name="Freeform 5"/>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6" name="TextBox 6"/>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3310748" y="-106778"/>
            <a:ext cx="11666505"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Scope &amp; Planning</a:t>
            </a:r>
          </a:p>
        </p:txBody>
      </p:sp>
      <p:sp>
        <p:nvSpPr>
          <p:cNvPr id="8" name="TextBox 8"/>
          <p:cNvSpPr txBox="1"/>
          <p:nvPr/>
        </p:nvSpPr>
        <p:spPr>
          <a:xfrm>
            <a:off x="2895981" y="2691645"/>
            <a:ext cx="13626572" cy="6743492"/>
          </a:xfrm>
          <a:prstGeom prst="rect">
            <a:avLst/>
          </a:prstGeom>
        </p:spPr>
        <p:txBody>
          <a:bodyPr lIns="0" tIns="0" rIns="0" bIns="0" rtlCol="0" anchor="t">
            <a:spAutoFit/>
          </a:bodyPr>
          <a:lstStyle/>
          <a:p>
            <a:pPr algn="l">
              <a:lnSpc>
                <a:spcPts val="3575"/>
              </a:lnSpc>
            </a:pPr>
            <a:r>
              <a:rPr lang="en-US" sz="2553">
                <a:solidFill>
                  <a:srgbClr val="FAFAFA"/>
                </a:solidFill>
                <a:latin typeface="Century Gothic Paneuropean"/>
                <a:ea typeface="Century Gothic Paneuropean"/>
                <a:cs typeface="Century Gothic Paneuropean"/>
                <a:sym typeface="Century Gothic Paneuropean"/>
              </a:rPr>
              <a:t>    Scope:-</a:t>
            </a:r>
          </a:p>
          <a:p>
            <a:pPr algn="l">
              <a:lnSpc>
                <a:spcPts val="3575"/>
              </a:lnSpc>
            </a:pPr>
            <a:endParaRPr lang="en-US" sz="2553">
              <a:solidFill>
                <a:srgbClr val="FAFAFA"/>
              </a:solidFill>
              <a:latin typeface="Century Gothic Paneuropean"/>
              <a:ea typeface="Century Gothic Paneuropean"/>
              <a:cs typeface="Century Gothic Paneuropean"/>
              <a:sym typeface="Century Gothic Paneuropean"/>
            </a:endParaRP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Covers job posting, job searching, application tracking, and communication.</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Can be extended with AI-driven job recommendations, resume scoring, and video interviews.</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Useful for students, professionals, HR managers, and large companies.</a:t>
            </a:r>
          </a:p>
          <a:p>
            <a:pPr algn="l">
              <a:lnSpc>
                <a:spcPts val="3575"/>
              </a:lnSpc>
            </a:pPr>
            <a:endParaRPr lang="en-US" sz="2553">
              <a:solidFill>
                <a:srgbClr val="FAFAFA"/>
              </a:solidFill>
              <a:latin typeface="Century Gothic Paneuropean"/>
              <a:ea typeface="Century Gothic Paneuropean"/>
              <a:cs typeface="Century Gothic Paneuropean"/>
              <a:sym typeface="Century Gothic Paneuropean"/>
            </a:endParaRPr>
          </a:p>
          <a:p>
            <a:pPr algn="l">
              <a:lnSpc>
                <a:spcPts val="3575"/>
              </a:lnSpc>
            </a:pPr>
            <a:r>
              <a:rPr lang="en-US" sz="2553">
                <a:solidFill>
                  <a:srgbClr val="FAFAFA"/>
                </a:solidFill>
                <a:latin typeface="Century Gothic Paneuropean"/>
                <a:ea typeface="Century Gothic Paneuropean"/>
                <a:cs typeface="Century Gothic Paneuropean"/>
                <a:sym typeface="Century Gothic Paneuropean"/>
              </a:rPr>
              <a:t>     Planning:-</a:t>
            </a:r>
          </a:p>
          <a:p>
            <a:pPr algn="l">
              <a:lnSpc>
                <a:spcPts val="3575"/>
              </a:lnSpc>
            </a:pPr>
            <a:endParaRPr lang="en-US" sz="2553">
              <a:solidFill>
                <a:srgbClr val="FAFAFA"/>
              </a:solidFill>
              <a:latin typeface="Century Gothic Paneuropean"/>
              <a:ea typeface="Century Gothic Paneuropean"/>
              <a:cs typeface="Century Gothic Paneuropean"/>
              <a:sym typeface="Century Gothic Paneuropean"/>
            </a:endParaRP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Phase 1: Requirement gathering &amp; analysis.</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Phase 2: System design (database + front-end + back-end architecture).</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Phase 3: Development (module-wise: login, job posting, search, dashboards).</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Phase 4: Testing (unit testing, integration testing, usability testing).</a:t>
            </a:r>
          </a:p>
          <a:p>
            <a:pPr marL="551351" lvl="1" indent="-275675" algn="l">
              <a:lnSpc>
                <a:spcPts val="3575"/>
              </a:lnSpc>
              <a:buFont typeface="Arial"/>
              <a:buChar char="•"/>
            </a:pPr>
            <a:r>
              <a:rPr lang="en-US" sz="2553">
                <a:solidFill>
                  <a:srgbClr val="FAFAFA"/>
                </a:solidFill>
                <a:latin typeface="Century Gothic Paneuropean"/>
                <a:ea typeface="Century Gothic Paneuropean"/>
                <a:cs typeface="Century Gothic Paneuropean"/>
                <a:sym typeface="Century Gothic Paneuropean"/>
              </a:rPr>
              <a:t>Phase 5: Deployment &amp; maintenance.</a:t>
            </a:r>
          </a:p>
          <a:p>
            <a:pPr marL="551351" lvl="1" indent="-275675" algn="l">
              <a:lnSpc>
                <a:spcPts val="3575"/>
              </a:lnSpc>
              <a:buFont typeface="Arial"/>
              <a:buChar char="•"/>
            </a:pPr>
            <a:endParaRPr lang="en-US" sz="2553">
              <a:solidFill>
                <a:srgbClr val="FAFAFA"/>
              </a:solidFill>
              <a:latin typeface="Century Gothic Paneuropean"/>
              <a:ea typeface="Century Gothic Paneuropean"/>
              <a:cs typeface="Century Gothic Paneuropean"/>
              <a:sym typeface="Century Gothic Paneuropean"/>
            </a:endParaRPr>
          </a:p>
        </p:txBody>
      </p:sp>
      <p:sp>
        <p:nvSpPr>
          <p:cNvPr id="9" name="Freeform 9"/>
          <p:cNvSpPr/>
          <p:nvPr/>
        </p:nvSpPr>
        <p:spPr>
          <a:xfrm>
            <a:off x="-2518931" y="9258300"/>
            <a:ext cx="4966678" cy="4114800"/>
          </a:xfrm>
          <a:custGeom>
            <a:avLst/>
            <a:gdLst/>
            <a:ahLst/>
            <a:cxnLst/>
            <a:rect l="l" t="t" r="r" b="b"/>
            <a:pathLst>
              <a:path w="4966678" h="4114800">
                <a:moveTo>
                  <a:pt x="0" y="0"/>
                </a:moveTo>
                <a:lnTo>
                  <a:pt x="4966678" y="0"/>
                </a:lnTo>
                <a:lnTo>
                  <a:pt x="496667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flipH="1" flipV="1">
            <a:off x="15814186" y="-3086100"/>
            <a:ext cx="4966678" cy="4114800"/>
          </a:xfrm>
          <a:custGeom>
            <a:avLst/>
            <a:gdLst/>
            <a:ahLst/>
            <a:cxnLst/>
            <a:rect l="l" t="t" r="r" b="b"/>
            <a:pathLst>
              <a:path w="4966678" h="4114800">
                <a:moveTo>
                  <a:pt x="4966678" y="4114800"/>
                </a:moveTo>
                <a:lnTo>
                  <a:pt x="0" y="4114800"/>
                </a:lnTo>
                <a:lnTo>
                  <a:pt x="0" y="0"/>
                </a:lnTo>
                <a:lnTo>
                  <a:pt x="4966678" y="0"/>
                </a:lnTo>
                <a:lnTo>
                  <a:pt x="4966678" y="411480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15509949" y="6167220"/>
            <a:ext cx="2798064" cy="4114800"/>
          </a:xfrm>
          <a:custGeom>
            <a:avLst/>
            <a:gdLst/>
            <a:ahLst/>
            <a:cxnLst/>
            <a:rect l="l" t="t" r="r" b="b"/>
            <a:pathLst>
              <a:path w="2798064" h="4114800">
                <a:moveTo>
                  <a:pt x="0" y="0"/>
                </a:moveTo>
                <a:lnTo>
                  <a:pt x="2798064" y="0"/>
                </a:lnTo>
                <a:lnTo>
                  <a:pt x="27980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0" y="-259953"/>
            <a:ext cx="2798064" cy="4114800"/>
          </a:xfrm>
          <a:custGeom>
            <a:avLst/>
            <a:gdLst/>
            <a:ahLst/>
            <a:cxnLst/>
            <a:rect l="l" t="t" r="r" b="b"/>
            <a:pathLst>
              <a:path w="2798064" h="4114800">
                <a:moveTo>
                  <a:pt x="2798064" y="4114800"/>
                </a:moveTo>
                <a:lnTo>
                  <a:pt x="0" y="4114800"/>
                </a:lnTo>
                <a:lnTo>
                  <a:pt x="0" y="0"/>
                </a:lnTo>
                <a:lnTo>
                  <a:pt x="2798064" y="0"/>
                </a:lnTo>
                <a:lnTo>
                  <a:pt x="2798064" y="411480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798064" y="703224"/>
            <a:ext cx="14461236" cy="1292071"/>
            <a:chOff x="0" y="0"/>
            <a:chExt cx="3808721" cy="340299"/>
          </a:xfrm>
        </p:grpSpPr>
        <p:sp>
          <p:nvSpPr>
            <p:cNvPr id="5" name="Freeform 5"/>
            <p:cNvSpPr/>
            <p:nvPr/>
          </p:nvSpPr>
          <p:spPr>
            <a:xfrm>
              <a:off x="0" y="0"/>
              <a:ext cx="3808721" cy="340299"/>
            </a:xfrm>
            <a:custGeom>
              <a:avLst/>
              <a:gdLst/>
              <a:ahLst/>
              <a:cxnLst/>
              <a:rect l="l" t="t" r="r" b="b"/>
              <a:pathLst>
                <a:path w="3808721" h="340299">
                  <a:moveTo>
                    <a:pt x="53536" y="0"/>
                  </a:moveTo>
                  <a:lnTo>
                    <a:pt x="3755185" y="0"/>
                  </a:lnTo>
                  <a:cubicBezTo>
                    <a:pt x="3784752" y="0"/>
                    <a:pt x="3808721" y="23969"/>
                    <a:pt x="3808721" y="53536"/>
                  </a:cubicBezTo>
                  <a:lnTo>
                    <a:pt x="3808721" y="286763"/>
                  </a:lnTo>
                  <a:cubicBezTo>
                    <a:pt x="3808721" y="300961"/>
                    <a:pt x="3803080" y="314578"/>
                    <a:pt x="3793041" y="324618"/>
                  </a:cubicBezTo>
                  <a:cubicBezTo>
                    <a:pt x="3783000" y="334658"/>
                    <a:pt x="3769383" y="340299"/>
                    <a:pt x="3755185" y="340299"/>
                  </a:cubicBezTo>
                  <a:lnTo>
                    <a:pt x="53536" y="340299"/>
                  </a:lnTo>
                  <a:cubicBezTo>
                    <a:pt x="39337" y="340299"/>
                    <a:pt x="25720" y="334658"/>
                    <a:pt x="15680" y="324618"/>
                  </a:cubicBezTo>
                  <a:cubicBezTo>
                    <a:pt x="5640" y="314578"/>
                    <a:pt x="0" y="300961"/>
                    <a:pt x="0" y="286763"/>
                  </a:cubicBezTo>
                  <a:lnTo>
                    <a:pt x="0" y="53536"/>
                  </a:lnTo>
                  <a:cubicBezTo>
                    <a:pt x="0" y="39337"/>
                    <a:pt x="5640" y="25720"/>
                    <a:pt x="15680" y="15680"/>
                  </a:cubicBezTo>
                  <a:cubicBezTo>
                    <a:pt x="25720" y="5640"/>
                    <a:pt x="39337" y="0"/>
                    <a:pt x="53536" y="0"/>
                  </a:cubicBezTo>
                  <a:close/>
                </a:path>
              </a:pathLst>
            </a:custGeom>
            <a:solidFill>
              <a:srgbClr val="FAFAFA"/>
            </a:solidFill>
          </p:spPr>
        </p:sp>
        <p:sp>
          <p:nvSpPr>
            <p:cNvPr id="6" name="TextBox 6"/>
            <p:cNvSpPr txBox="1"/>
            <p:nvPr/>
          </p:nvSpPr>
          <p:spPr>
            <a:xfrm>
              <a:off x="0" y="-85725"/>
              <a:ext cx="3808721" cy="426024"/>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495783" y="363252"/>
            <a:ext cx="12640690"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Design Technologies </a:t>
            </a:r>
          </a:p>
        </p:txBody>
      </p:sp>
      <p:pic>
        <p:nvPicPr>
          <p:cNvPr id="12" name="Picture 11">
            <a:extLst>
              <a:ext uri="{FF2B5EF4-FFF2-40B4-BE49-F238E27FC236}">
                <a16:creationId xmlns:a16="http://schemas.microsoft.com/office/drawing/2014/main" id="{7A5CBA0A-0EC7-DB91-6E9F-A3531A32249C}"/>
              </a:ext>
            </a:extLst>
          </p:cNvPr>
          <p:cNvPicPr>
            <a:picLocks noChangeAspect="1"/>
          </p:cNvPicPr>
          <p:nvPr/>
        </p:nvPicPr>
        <p:blipFill>
          <a:blip r:embed="rId4"/>
          <a:stretch>
            <a:fillRect/>
          </a:stretch>
        </p:blipFill>
        <p:spPr>
          <a:xfrm>
            <a:off x="2798064" y="3009901"/>
            <a:ext cx="13338409" cy="5486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14854259" y="9384387"/>
            <a:ext cx="3433741" cy="3613939"/>
          </a:xfrm>
          <a:custGeom>
            <a:avLst/>
            <a:gdLst/>
            <a:ahLst/>
            <a:cxnLst/>
            <a:rect l="l" t="t" r="r" b="b"/>
            <a:pathLst>
              <a:path w="3433741" h="3613939">
                <a:moveTo>
                  <a:pt x="0" y="0"/>
                </a:moveTo>
                <a:lnTo>
                  <a:pt x="3433741" y="0"/>
                </a:lnTo>
                <a:lnTo>
                  <a:pt x="3433741" y="3613938"/>
                </a:lnTo>
                <a:lnTo>
                  <a:pt x="0" y="36139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4257824"/>
            <a:ext cx="4967696" cy="5228394"/>
          </a:xfrm>
          <a:custGeom>
            <a:avLst/>
            <a:gdLst/>
            <a:ahLst/>
            <a:cxnLst/>
            <a:rect l="l" t="t" r="r" b="b"/>
            <a:pathLst>
              <a:path w="4967696" h="5228394">
                <a:moveTo>
                  <a:pt x="0" y="0"/>
                </a:moveTo>
                <a:lnTo>
                  <a:pt x="4967696" y="0"/>
                </a:lnTo>
                <a:lnTo>
                  <a:pt x="4967696" y="5228394"/>
                </a:lnTo>
                <a:lnTo>
                  <a:pt x="0" y="52283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5642541" y="77279"/>
            <a:ext cx="2645459" cy="3415699"/>
          </a:xfrm>
          <a:custGeom>
            <a:avLst/>
            <a:gdLst/>
            <a:ahLst/>
            <a:cxnLst/>
            <a:rect l="l" t="t" r="r" b="b"/>
            <a:pathLst>
              <a:path w="2645459" h="3415699">
                <a:moveTo>
                  <a:pt x="0" y="3415699"/>
                </a:moveTo>
                <a:lnTo>
                  <a:pt x="2645459" y="3415699"/>
                </a:lnTo>
                <a:lnTo>
                  <a:pt x="2645459" y="0"/>
                </a:lnTo>
                <a:lnTo>
                  <a:pt x="0" y="0"/>
                </a:lnTo>
                <a:lnTo>
                  <a:pt x="0" y="3415699"/>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0" y="6871301"/>
            <a:ext cx="2645459" cy="3415699"/>
          </a:xfrm>
          <a:custGeom>
            <a:avLst/>
            <a:gdLst/>
            <a:ahLst/>
            <a:cxnLst/>
            <a:rect l="l" t="t" r="r" b="b"/>
            <a:pathLst>
              <a:path w="2645459" h="3415699">
                <a:moveTo>
                  <a:pt x="2645459" y="0"/>
                </a:moveTo>
                <a:lnTo>
                  <a:pt x="0" y="0"/>
                </a:lnTo>
                <a:lnTo>
                  <a:pt x="0" y="3415699"/>
                </a:lnTo>
                <a:lnTo>
                  <a:pt x="2645459" y="3415699"/>
                </a:lnTo>
                <a:lnTo>
                  <a:pt x="2645459"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nvGrpSpPr>
        <p:grpSpPr>
          <a:xfrm>
            <a:off x="2746539" y="382664"/>
            <a:ext cx="12896002" cy="1292071"/>
            <a:chOff x="0" y="0"/>
            <a:chExt cx="3396478" cy="340299"/>
          </a:xfrm>
        </p:grpSpPr>
        <p:sp>
          <p:nvSpPr>
            <p:cNvPr id="7" name="Freeform 7"/>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8" name="TextBox 8"/>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2746539" y="2597723"/>
            <a:ext cx="12505685" cy="6660577"/>
          </a:xfrm>
          <a:custGeom>
            <a:avLst/>
            <a:gdLst/>
            <a:ahLst/>
            <a:cxnLst/>
            <a:rect l="l" t="t" r="r" b="b"/>
            <a:pathLst>
              <a:path w="12505685" h="6660577">
                <a:moveTo>
                  <a:pt x="0" y="0"/>
                </a:moveTo>
                <a:lnTo>
                  <a:pt x="12505685" y="0"/>
                </a:lnTo>
                <a:lnTo>
                  <a:pt x="12505685" y="6660577"/>
                </a:lnTo>
                <a:lnTo>
                  <a:pt x="0" y="6660577"/>
                </a:lnTo>
                <a:lnTo>
                  <a:pt x="0" y="0"/>
                </a:lnTo>
                <a:close/>
              </a:path>
            </a:pathLst>
          </a:custGeom>
          <a:blipFill>
            <a:blip r:embed="rId6"/>
            <a:stretch>
              <a:fillRect t="-6810" b="-10068"/>
            </a:stretch>
          </a:blipFill>
        </p:spPr>
      </p:sp>
      <p:sp>
        <p:nvSpPr>
          <p:cNvPr id="10" name="TextBox 10"/>
          <p:cNvSpPr txBox="1"/>
          <p:nvPr/>
        </p:nvSpPr>
        <p:spPr>
          <a:xfrm>
            <a:off x="3467878" y="-15437"/>
            <a:ext cx="11352244"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Database Diagram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2518931" y="9258300"/>
            <a:ext cx="4966678" cy="4114800"/>
          </a:xfrm>
          <a:custGeom>
            <a:avLst/>
            <a:gdLst/>
            <a:ahLst/>
            <a:cxnLst/>
            <a:rect l="l" t="t" r="r" b="b"/>
            <a:pathLst>
              <a:path w="4966678" h="4114800">
                <a:moveTo>
                  <a:pt x="0" y="0"/>
                </a:moveTo>
                <a:lnTo>
                  <a:pt x="4966678" y="0"/>
                </a:lnTo>
                <a:lnTo>
                  <a:pt x="49666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5814186" y="-3086100"/>
            <a:ext cx="4966678" cy="4114800"/>
          </a:xfrm>
          <a:custGeom>
            <a:avLst/>
            <a:gdLst/>
            <a:ahLst/>
            <a:cxnLst/>
            <a:rect l="l" t="t" r="r" b="b"/>
            <a:pathLst>
              <a:path w="4966678" h="4114800">
                <a:moveTo>
                  <a:pt x="4966678" y="4114800"/>
                </a:moveTo>
                <a:lnTo>
                  <a:pt x="0" y="4114800"/>
                </a:lnTo>
                <a:lnTo>
                  <a:pt x="0" y="0"/>
                </a:lnTo>
                <a:lnTo>
                  <a:pt x="4966678" y="0"/>
                </a:lnTo>
                <a:lnTo>
                  <a:pt x="4966678" y="411480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3020451" y="382664"/>
            <a:ext cx="12896002" cy="1292071"/>
            <a:chOff x="0" y="0"/>
            <a:chExt cx="3396478" cy="340299"/>
          </a:xfrm>
        </p:grpSpPr>
        <p:sp>
          <p:nvSpPr>
            <p:cNvPr id="5" name="Freeform 5"/>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6" name="TextBox 6"/>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1028700" y="2449120"/>
            <a:ext cx="6995152" cy="6102461"/>
          </a:xfrm>
          <a:custGeom>
            <a:avLst/>
            <a:gdLst/>
            <a:ahLst/>
            <a:cxnLst/>
            <a:rect l="l" t="t" r="r" b="b"/>
            <a:pathLst>
              <a:path w="6995152" h="6102461">
                <a:moveTo>
                  <a:pt x="0" y="0"/>
                </a:moveTo>
                <a:lnTo>
                  <a:pt x="6995152" y="0"/>
                </a:lnTo>
                <a:lnTo>
                  <a:pt x="6995152" y="6102461"/>
                </a:lnTo>
                <a:lnTo>
                  <a:pt x="0" y="6102461"/>
                </a:lnTo>
                <a:lnTo>
                  <a:pt x="0" y="0"/>
                </a:lnTo>
                <a:close/>
              </a:path>
            </a:pathLst>
          </a:custGeom>
          <a:blipFill>
            <a:blip r:embed="rId4"/>
            <a:stretch>
              <a:fillRect l="-679" r="-679"/>
            </a:stretch>
          </a:blipFill>
        </p:spPr>
      </p:sp>
      <p:sp>
        <p:nvSpPr>
          <p:cNvPr id="8" name="Freeform 8"/>
          <p:cNvSpPr/>
          <p:nvPr/>
        </p:nvSpPr>
        <p:spPr>
          <a:xfrm>
            <a:off x="9144000" y="2526647"/>
            <a:ext cx="6936959" cy="5947407"/>
          </a:xfrm>
          <a:custGeom>
            <a:avLst/>
            <a:gdLst/>
            <a:ahLst/>
            <a:cxnLst/>
            <a:rect l="l" t="t" r="r" b="b"/>
            <a:pathLst>
              <a:path w="6936959" h="5947407">
                <a:moveTo>
                  <a:pt x="0" y="0"/>
                </a:moveTo>
                <a:lnTo>
                  <a:pt x="6936959" y="0"/>
                </a:lnTo>
                <a:lnTo>
                  <a:pt x="6936959" y="5947407"/>
                </a:lnTo>
                <a:lnTo>
                  <a:pt x="0" y="5947407"/>
                </a:lnTo>
                <a:lnTo>
                  <a:pt x="0" y="0"/>
                </a:lnTo>
                <a:close/>
              </a:path>
            </a:pathLst>
          </a:custGeom>
          <a:blipFill>
            <a:blip r:embed="rId5"/>
            <a:stretch>
              <a:fillRect/>
            </a:stretch>
          </a:blipFill>
        </p:spPr>
      </p:sp>
      <p:sp>
        <p:nvSpPr>
          <p:cNvPr id="9" name="TextBox 9"/>
          <p:cNvSpPr txBox="1"/>
          <p:nvPr/>
        </p:nvSpPr>
        <p:spPr>
          <a:xfrm>
            <a:off x="4354746" y="42693"/>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User Interface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sp>
        <p:nvSpPr>
          <p:cNvPr id="2" name="Freeform 2"/>
          <p:cNvSpPr/>
          <p:nvPr/>
        </p:nvSpPr>
        <p:spPr>
          <a:xfrm>
            <a:off x="15509949" y="6167220"/>
            <a:ext cx="2798064" cy="4114800"/>
          </a:xfrm>
          <a:custGeom>
            <a:avLst/>
            <a:gdLst/>
            <a:ahLst/>
            <a:cxnLst/>
            <a:rect l="l" t="t" r="r" b="b"/>
            <a:pathLst>
              <a:path w="2798064" h="4114800">
                <a:moveTo>
                  <a:pt x="0" y="0"/>
                </a:moveTo>
                <a:lnTo>
                  <a:pt x="2798064" y="0"/>
                </a:lnTo>
                <a:lnTo>
                  <a:pt x="27980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0" y="-259953"/>
            <a:ext cx="2798064" cy="4114800"/>
          </a:xfrm>
          <a:custGeom>
            <a:avLst/>
            <a:gdLst/>
            <a:ahLst/>
            <a:cxnLst/>
            <a:rect l="l" t="t" r="r" b="b"/>
            <a:pathLst>
              <a:path w="2798064" h="4114800">
                <a:moveTo>
                  <a:pt x="2798064" y="4114800"/>
                </a:moveTo>
                <a:lnTo>
                  <a:pt x="0" y="4114800"/>
                </a:lnTo>
                <a:lnTo>
                  <a:pt x="0" y="0"/>
                </a:lnTo>
                <a:lnTo>
                  <a:pt x="2798064" y="0"/>
                </a:lnTo>
                <a:lnTo>
                  <a:pt x="2798064" y="411480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695999" y="382664"/>
            <a:ext cx="12896002" cy="1292071"/>
            <a:chOff x="0" y="0"/>
            <a:chExt cx="3396478" cy="340299"/>
          </a:xfrm>
        </p:grpSpPr>
        <p:sp>
          <p:nvSpPr>
            <p:cNvPr id="5" name="Freeform 5"/>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6" name="TextBox 6"/>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3904813" y="15933"/>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Testing</a:t>
            </a:r>
          </a:p>
        </p:txBody>
      </p:sp>
      <p:sp>
        <p:nvSpPr>
          <p:cNvPr id="8" name="TextBox 8"/>
          <p:cNvSpPr txBox="1"/>
          <p:nvPr/>
        </p:nvSpPr>
        <p:spPr>
          <a:xfrm>
            <a:off x="1674769" y="2487606"/>
            <a:ext cx="14938462" cy="5322394"/>
          </a:xfrm>
          <a:prstGeom prst="rect">
            <a:avLst/>
          </a:prstGeom>
        </p:spPr>
        <p:txBody>
          <a:bodyPr lIns="0" tIns="0" rIns="0" bIns="0" rtlCol="0" anchor="t">
            <a:spAutoFit/>
          </a:bodyPr>
          <a:lstStyle/>
          <a:p>
            <a:pPr algn="ctr">
              <a:lnSpc>
                <a:spcPts val="3049"/>
              </a:lnSpc>
              <a:spcBef>
                <a:spcPct val="0"/>
              </a:spcBef>
            </a:pPr>
            <a:r>
              <a:rPr lang="en-US" sz="2178">
                <a:solidFill>
                  <a:srgbClr val="FAFAFA"/>
                </a:solidFill>
                <a:latin typeface="Century Gothic Paneuropean"/>
                <a:ea typeface="Century Gothic Paneuropean"/>
                <a:cs typeface="Century Gothic Paneuropean"/>
                <a:sym typeface="Century Gothic Paneuropean"/>
              </a:rPr>
              <a:t>      Unit Testing:        Each individual module, like the login feature, job application submission, or a user's profile creation, is tested in isolation to ensure it functions correctly on its own.</a:t>
            </a:r>
          </a:p>
          <a:p>
            <a:pPr algn="ctr">
              <a:lnSpc>
                <a:spcPts val="3049"/>
              </a:lnSpc>
              <a:spcBef>
                <a:spcPct val="0"/>
              </a:spcBef>
            </a:pPr>
            <a:endParaRPr lang="en-US" sz="2178">
              <a:solidFill>
                <a:srgbClr val="FAFAFA"/>
              </a:solidFill>
              <a:latin typeface="Century Gothic Paneuropean"/>
              <a:ea typeface="Century Gothic Paneuropean"/>
              <a:cs typeface="Century Gothic Paneuropean"/>
              <a:sym typeface="Century Gothic Paneuropean"/>
            </a:endParaRPr>
          </a:p>
          <a:p>
            <a:pPr algn="ctr">
              <a:lnSpc>
                <a:spcPts val="3049"/>
              </a:lnSpc>
              <a:spcBef>
                <a:spcPct val="0"/>
              </a:spcBef>
            </a:pPr>
            <a:r>
              <a:rPr lang="en-US" sz="2178">
                <a:solidFill>
                  <a:srgbClr val="FAFAFA"/>
                </a:solidFill>
                <a:latin typeface="Century Gothic Paneuropean"/>
                <a:ea typeface="Century Gothic Paneuropean"/>
                <a:cs typeface="Century Gothic Paneuropean"/>
                <a:sym typeface="Century Gothic Paneuropean"/>
              </a:rPr>
              <a:t> Integration Testing:  This testing ensures that different modules work together smoothly.</a:t>
            </a:r>
          </a:p>
          <a:p>
            <a:pPr algn="ctr">
              <a:lnSpc>
                <a:spcPts val="3049"/>
              </a:lnSpc>
              <a:spcBef>
                <a:spcPct val="0"/>
              </a:spcBef>
            </a:pPr>
            <a:endParaRPr lang="en-US" sz="2178">
              <a:solidFill>
                <a:srgbClr val="FAFAFA"/>
              </a:solidFill>
              <a:latin typeface="Century Gothic Paneuropean"/>
              <a:ea typeface="Century Gothic Paneuropean"/>
              <a:cs typeface="Century Gothic Paneuropean"/>
              <a:sym typeface="Century Gothic Paneuropean"/>
            </a:endParaRPr>
          </a:p>
          <a:p>
            <a:pPr marL="470281" lvl="1" indent="-235140" algn="ctr">
              <a:lnSpc>
                <a:spcPts val="3049"/>
              </a:lnSpc>
              <a:spcBef>
                <a:spcPct val="0"/>
              </a:spcBef>
              <a:buFont typeface="Arial"/>
              <a:buChar char="•"/>
            </a:pPr>
            <a:r>
              <a:rPr lang="en-US" sz="2178">
                <a:solidFill>
                  <a:srgbClr val="FAFAFA"/>
                </a:solidFill>
                <a:latin typeface="Century Gothic Paneuropean"/>
                <a:ea typeface="Century Gothic Paneuropean"/>
                <a:cs typeface="Century Gothic Paneuropean"/>
                <a:sym typeface="Century Gothic Paneuropean"/>
              </a:rPr>
              <a:t>Usability Testing:    This focuses on the user experience. It checks how easy it is for both recruiters to post jobs and for job seekers to navigate the site and find relevant opportunities.</a:t>
            </a:r>
          </a:p>
          <a:p>
            <a:pPr marL="470281" lvl="1" indent="-235140" algn="ctr">
              <a:lnSpc>
                <a:spcPts val="3049"/>
              </a:lnSpc>
              <a:spcBef>
                <a:spcPct val="0"/>
              </a:spcBef>
              <a:buFont typeface="Arial"/>
              <a:buChar char="•"/>
            </a:pPr>
            <a:endParaRPr lang="en-US" sz="2178">
              <a:solidFill>
                <a:srgbClr val="FAFAFA"/>
              </a:solidFill>
              <a:latin typeface="Century Gothic Paneuropean"/>
              <a:ea typeface="Century Gothic Paneuropean"/>
              <a:cs typeface="Century Gothic Paneuropean"/>
              <a:sym typeface="Century Gothic Paneuropean"/>
            </a:endParaRPr>
          </a:p>
          <a:p>
            <a:pPr marL="470281" lvl="1" indent="-235140" algn="ctr">
              <a:lnSpc>
                <a:spcPts val="3049"/>
              </a:lnSpc>
              <a:spcBef>
                <a:spcPct val="0"/>
              </a:spcBef>
              <a:buFont typeface="Arial"/>
              <a:buChar char="•"/>
            </a:pPr>
            <a:r>
              <a:rPr lang="en-US" sz="2178">
                <a:solidFill>
                  <a:srgbClr val="FAFAFA"/>
                </a:solidFill>
                <a:latin typeface="Century Gothic Paneuropean"/>
                <a:ea typeface="Century Gothic Paneuropean"/>
                <a:cs typeface="Century Gothic Paneuropean"/>
                <a:sym typeface="Century Gothic Paneuropean"/>
              </a:rPr>
              <a:t>Performance Testing:    This ensures the platform can handle heavy usage. It tests the system's stability when multiple users are searching for jobs or uploading resumes at the same time, especially during peak hours.</a:t>
            </a:r>
          </a:p>
          <a:p>
            <a:pPr marL="470281" lvl="1" indent="-235140" algn="ctr">
              <a:lnSpc>
                <a:spcPts val="3049"/>
              </a:lnSpc>
              <a:spcBef>
                <a:spcPct val="0"/>
              </a:spcBef>
              <a:buFont typeface="Arial"/>
              <a:buChar char="•"/>
            </a:pPr>
            <a:endParaRPr lang="en-US" sz="2178">
              <a:solidFill>
                <a:srgbClr val="FAFAFA"/>
              </a:solidFill>
              <a:latin typeface="Century Gothic Paneuropean"/>
              <a:ea typeface="Century Gothic Paneuropean"/>
              <a:cs typeface="Century Gothic Paneuropean"/>
              <a:sym typeface="Century Gothic Paneuropean"/>
            </a:endParaRPr>
          </a:p>
          <a:p>
            <a:pPr marL="470281" lvl="1" indent="-235140" algn="ctr">
              <a:lnSpc>
                <a:spcPts val="3049"/>
              </a:lnSpc>
              <a:spcBef>
                <a:spcPct val="0"/>
              </a:spcBef>
              <a:buFont typeface="Arial"/>
              <a:buChar char="•"/>
            </a:pPr>
            <a:r>
              <a:rPr lang="en-US" sz="2178">
                <a:solidFill>
                  <a:srgbClr val="FAFAFA"/>
                </a:solidFill>
                <a:latin typeface="Century Gothic Paneuropean"/>
                <a:ea typeface="Century Gothic Paneuropean"/>
                <a:cs typeface="Century Gothic Paneuropean"/>
                <a:sym typeface="Century Gothic Paneuropean"/>
              </a:rPr>
              <a:t>Security Testing:    This is crucial for protecting sensitive data. It ensures that user data, such as resumes and personal information, is secure and that unauthorized users cannot access or alter it.</a:t>
            </a:r>
          </a:p>
          <a:p>
            <a:pPr algn="ctr">
              <a:lnSpc>
                <a:spcPts val="3049"/>
              </a:lnSpc>
              <a:spcBef>
                <a:spcPct val="0"/>
              </a:spcBef>
            </a:pPr>
            <a:endParaRPr lang="en-US" sz="2178">
              <a:solidFill>
                <a:srgbClr val="FAFAFA"/>
              </a:solidFill>
              <a:latin typeface="Century Gothic Paneuropean"/>
              <a:ea typeface="Century Gothic Paneuropean"/>
              <a:cs typeface="Century Gothic Paneuropean"/>
              <a:sym typeface="Century Gothic Paneurope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4A7C"/>
        </a:solidFill>
        <a:effectLst/>
      </p:bgPr>
    </p:bg>
    <p:spTree>
      <p:nvGrpSpPr>
        <p:cNvPr id="1" name=""/>
        <p:cNvGrpSpPr/>
        <p:nvPr/>
      </p:nvGrpSpPr>
      <p:grpSpPr>
        <a:xfrm>
          <a:off x="0" y="0"/>
          <a:ext cx="0" cy="0"/>
          <a:chOff x="0" y="0"/>
          <a:chExt cx="0" cy="0"/>
        </a:xfrm>
      </p:grpSpPr>
      <p:grpSp>
        <p:nvGrpSpPr>
          <p:cNvPr id="2" name="Group 2"/>
          <p:cNvGrpSpPr/>
          <p:nvPr/>
        </p:nvGrpSpPr>
        <p:grpSpPr>
          <a:xfrm>
            <a:off x="2695999" y="382664"/>
            <a:ext cx="12896002" cy="1292071"/>
            <a:chOff x="0" y="0"/>
            <a:chExt cx="3396478" cy="340299"/>
          </a:xfrm>
        </p:grpSpPr>
        <p:sp>
          <p:nvSpPr>
            <p:cNvPr id="3" name="Freeform 3"/>
            <p:cNvSpPr/>
            <p:nvPr/>
          </p:nvSpPr>
          <p:spPr>
            <a:xfrm>
              <a:off x="0" y="0"/>
              <a:ext cx="3396478" cy="340299"/>
            </a:xfrm>
            <a:custGeom>
              <a:avLst/>
              <a:gdLst/>
              <a:ahLst/>
              <a:cxnLst/>
              <a:rect l="l" t="t" r="r" b="b"/>
              <a:pathLst>
                <a:path w="3396478" h="340299">
                  <a:moveTo>
                    <a:pt x="60033" y="0"/>
                  </a:moveTo>
                  <a:lnTo>
                    <a:pt x="3336444" y="0"/>
                  </a:lnTo>
                  <a:cubicBezTo>
                    <a:pt x="3369600" y="0"/>
                    <a:pt x="3396478" y="26878"/>
                    <a:pt x="3396478" y="60033"/>
                  </a:cubicBezTo>
                  <a:lnTo>
                    <a:pt x="3396478" y="280265"/>
                  </a:lnTo>
                  <a:cubicBezTo>
                    <a:pt x="3396478" y="313421"/>
                    <a:pt x="3369600" y="340299"/>
                    <a:pt x="3336444" y="340299"/>
                  </a:cubicBezTo>
                  <a:lnTo>
                    <a:pt x="60033" y="340299"/>
                  </a:lnTo>
                  <a:cubicBezTo>
                    <a:pt x="26878" y="340299"/>
                    <a:pt x="0" y="313421"/>
                    <a:pt x="0" y="280265"/>
                  </a:cubicBezTo>
                  <a:lnTo>
                    <a:pt x="0" y="60033"/>
                  </a:lnTo>
                  <a:cubicBezTo>
                    <a:pt x="0" y="26878"/>
                    <a:pt x="26878" y="0"/>
                    <a:pt x="60033" y="0"/>
                  </a:cubicBezTo>
                  <a:close/>
                </a:path>
              </a:pathLst>
            </a:custGeom>
            <a:solidFill>
              <a:srgbClr val="FAFAFA"/>
            </a:solidFill>
          </p:spPr>
        </p:sp>
        <p:sp>
          <p:nvSpPr>
            <p:cNvPr id="4" name="TextBox 4"/>
            <p:cNvSpPr txBox="1"/>
            <p:nvPr/>
          </p:nvSpPr>
          <p:spPr>
            <a:xfrm>
              <a:off x="0" y="-85725"/>
              <a:ext cx="3396478" cy="426024"/>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3904813" y="15933"/>
            <a:ext cx="10227411" cy="1781514"/>
          </a:xfrm>
          <a:prstGeom prst="rect">
            <a:avLst/>
          </a:prstGeom>
        </p:spPr>
        <p:txBody>
          <a:bodyPr lIns="0" tIns="0" rIns="0" bIns="0" rtlCol="0" anchor="t">
            <a:spAutoFit/>
          </a:bodyPr>
          <a:lstStyle/>
          <a:p>
            <a:pPr algn="ctr">
              <a:lnSpc>
                <a:spcPts val="14681"/>
              </a:lnSpc>
            </a:pPr>
            <a:r>
              <a:rPr lang="en-US" sz="10486" b="1">
                <a:solidFill>
                  <a:srgbClr val="004A7C"/>
                </a:solidFill>
                <a:latin typeface="Assistant Ultra-Bold"/>
                <a:ea typeface="Assistant Ultra-Bold"/>
                <a:cs typeface="Assistant Ultra-Bold"/>
                <a:sym typeface="Assistant Ultra-Bold"/>
              </a:rPr>
              <a:t>Conclution</a:t>
            </a:r>
          </a:p>
        </p:txBody>
      </p:sp>
      <p:grpSp>
        <p:nvGrpSpPr>
          <p:cNvPr id="6" name="Group 6"/>
          <p:cNvGrpSpPr/>
          <p:nvPr/>
        </p:nvGrpSpPr>
        <p:grpSpPr>
          <a:xfrm>
            <a:off x="443560" y="1942556"/>
            <a:ext cx="17149917" cy="7918362"/>
            <a:chOff x="0" y="0"/>
            <a:chExt cx="4516851" cy="2085494"/>
          </a:xfrm>
        </p:grpSpPr>
        <p:sp>
          <p:nvSpPr>
            <p:cNvPr id="7" name="Freeform 7"/>
            <p:cNvSpPr/>
            <p:nvPr/>
          </p:nvSpPr>
          <p:spPr>
            <a:xfrm>
              <a:off x="0" y="0"/>
              <a:ext cx="4516851" cy="2085494"/>
            </a:xfrm>
            <a:custGeom>
              <a:avLst/>
              <a:gdLst/>
              <a:ahLst/>
              <a:cxnLst/>
              <a:rect l="l" t="t" r="r" b="b"/>
              <a:pathLst>
                <a:path w="4516851" h="2085494">
                  <a:moveTo>
                    <a:pt x="45143" y="0"/>
                  </a:moveTo>
                  <a:lnTo>
                    <a:pt x="4471708" y="0"/>
                  </a:lnTo>
                  <a:cubicBezTo>
                    <a:pt x="4496639" y="0"/>
                    <a:pt x="4516851" y="20211"/>
                    <a:pt x="4516851" y="45143"/>
                  </a:cubicBezTo>
                  <a:lnTo>
                    <a:pt x="4516851" y="2040352"/>
                  </a:lnTo>
                  <a:cubicBezTo>
                    <a:pt x="4516851" y="2065283"/>
                    <a:pt x="4496639" y="2085494"/>
                    <a:pt x="4471708" y="2085494"/>
                  </a:cubicBezTo>
                  <a:lnTo>
                    <a:pt x="45143" y="2085494"/>
                  </a:lnTo>
                  <a:cubicBezTo>
                    <a:pt x="20211" y="2085494"/>
                    <a:pt x="0" y="2065283"/>
                    <a:pt x="0" y="2040352"/>
                  </a:cubicBezTo>
                  <a:lnTo>
                    <a:pt x="0" y="45143"/>
                  </a:lnTo>
                  <a:cubicBezTo>
                    <a:pt x="0" y="20211"/>
                    <a:pt x="20211" y="0"/>
                    <a:pt x="45143" y="0"/>
                  </a:cubicBezTo>
                  <a:close/>
                </a:path>
              </a:pathLst>
            </a:custGeom>
            <a:solidFill>
              <a:srgbClr val="FAFAFA"/>
            </a:solidFill>
          </p:spPr>
        </p:sp>
        <p:sp>
          <p:nvSpPr>
            <p:cNvPr id="8" name="TextBox 8"/>
            <p:cNvSpPr txBox="1"/>
            <p:nvPr/>
          </p:nvSpPr>
          <p:spPr>
            <a:xfrm>
              <a:off x="0" y="-85725"/>
              <a:ext cx="4516851" cy="2171219"/>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028700" y="2640377"/>
            <a:ext cx="15662109" cy="3261360"/>
          </a:xfrm>
          <a:prstGeom prst="rect">
            <a:avLst/>
          </a:prstGeom>
        </p:spPr>
        <p:txBody>
          <a:bodyPr lIns="0" tIns="0" rIns="0" bIns="0" rtlCol="0" anchor="t">
            <a:spAutoFit/>
          </a:bodyPr>
          <a:lstStyle/>
          <a:p>
            <a:pPr algn="ctr">
              <a:lnSpc>
                <a:spcPts val="5040"/>
              </a:lnSpc>
              <a:spcBef>
                <a:spcPct val="0"/>
              </a:spcBef>
            </a:pPr>
            <a:r>
              <a:rPr lang="en-US" sz="3600">
                <a:solidFill>
                  <a:srgbClr val="004A7C"/>
                </a:solidFill>
                <a:latin typeface="Agrandir Narrow"/>
                <a:ea typeface="Agrandir Narrow"/>
                <a:cs typeface="Agrandir Narrow"/>
                <a:sym typeface="Agrandir Narrow"/>
              </a:rPr>
              <a:t>The Online Job Portal Website is a platform that helps connect job seekers with recruiters in a fast and efficient way. It makes the hiring process quicker, more transparent, and easier for everyone to use. Job seekers can easily find and apply for jobs, while employers can quickly post openings and select the right candidates.</a:t>
            </a:r>
          </a:p>
        </p:txBody>
      </p:sp>
      <p:sp>
        <p:nvSpPr>
          <p:cNvPr id="10" name="TextBox 10"/>
          <p:cNvSpPr txBox="1"/>
          <p:nvPr/>
        </p:nvSpPr>
        <p:spPr>
          <a:xfrm>
            <a:off x="879415" y="6226645"/>
            <a:ext cx="15991886" cy="1985010"/>
          </a:xfrm>
          <a:prstGeom prst="rect">
            <a:avLst/>
          </a:prstGeom>
        </p:spPr>
        <p:txBody>
          <a:bodyPr lIns="0" tIns="0" rIns="0" bIns="0" rtlCol="0" anchor="t">
            <a:spAutoFit/>
          </a:bodyPr>
          <a:lstStyle/>
          <a:p>
            <a:pPr algn="ctr">
              <a:lnSpc>
                <a:spcPts val="5040"/>
              </a:lnSpc>
              <a:spcBef>
                <a:spcPct val="0"/>
              </a:spcBef>
            </a:pPr>
            <a:r>
              <a:rPr lang="en-US" sz="3600">
                <a:solidFill>
                  <a:srgbClr val="004A7C"/>
                </a:solidFill>
                <a:latin typeface="Agrandir Narrow"/>
                <a:ea typeface="Agrandir Narrow"/>
                <a:cs typeface="Agrandir Narrow"/>
                <a:sym typeface="Agrandir Narrow"/>
              </a:rPr>
              <a:t>In the future, the system can be improved with smart features like AI-based job suggestions and automatic resume checking, making it even more useful and powerful for both job seekers and companies.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6250" r="-6250"/>
            </a:stretch>
          </a:blipFill>
        </p:spPr>
      </p:sp>
      <p:sp>
        <p:nvSpPr>
          <p:cNvPr id="3" name="Freeform 3"/>
          <p:cNvSpPr/>
          <p:nvPr/>
        </p:nvSpPr>
        <p:spPr>
          <a:xfrm>
            <a:off x="12496753" y="9109918"/>
            <a:ext cx="5829347" cy="6135263"/>
          </a:xfrm>
          <a:custGeom>
            <a:avLst/>
            <a:gdLst/>
            <a:ahLst/>
            <a:cxnLst/>
            <a:rect l="l" t="t" r="r" b="b"/>
            <a:pathLst>
              <a:path w="5829347" h="6135263">
                <a:moveTo>
                  <a:pt x="0" y="0"/>
                </a:moveTo>
                <a:lnTo>
                  <a:pt x="5829347" y="0"/>
                </a:lnTo>
                <a:lnTo>
                  <a:pt x="5829347" y="6135263"/>
                </a:lnTo>
                <a:lnTo>
                  <a:pt x="0" y="61352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0" y="-4257824"/>
            <a:ext cx="5829347" cy="6135263"/>
          </a:xfrm>
          <a:custGeom>
            <a:avLst/>
            <a:gdLst/>
            <a:ahLst/>
            <a:cxnLst/>
            <a:rect l="l" t="t" r="r" b="b"/>
            <a:pathLst>
              <a:path w="5829347" h="6135263">
                <a:moveTo>
                  <a:pt x="0" y="0"/>
                </a:moveTo>
                <a:lnTo>
                  <a:pt x="5829347" y="0"/>
                </a:lnTo>
                <a:lnTo>
                  <a:pt x="5829347" y="6135263"/>
                </a:lnTo>
                <a:lnTo>
                  <a:pt x="0" y="61352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3478976"/>
            <a:ext cx="5272815" cy="6808024"/>
          </a:xfrm>
          <a:custGeom>
            <a:avLst/>
            <a:gdLst/>
            <a:ahLst/>
            <a:cxnLst/>
            <a:rect l="l" t="t" r="r" b="b"/>
            <a:pathLst>
              <a:path w="5272815" h="6808024">
                <a:moveTo>
                  <a:pt x="5272815" y="0"/>
                </a:moveTo>
                <a:lnTo>
                  <a:pt x="0" y="0"/>
                </a:lnTo>
                <a:lnTo>
                  <a:pt x="0" y="6808024"/>
                </a:lnTo>
                <a:lnTo>
                  <a:pt x="5272815" y="6808024"/>
                </a:lnTo>
                <a:lnTo>
                  <a:pt x="5272815"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V="1">
            <a:off x="13015185" y="0"/>
            <a:ext cx="5272815" cy="6808024"/>
          </a:xfrm>
          <a:custGeom>
            <a:avLst/>
            <a:gdLst/>
            <a:ahLst/>
            <a:cxnLst/>
            <a:rect l="l" t="t" r="r" b="b"/>
            <a:pathLst>
              <a:path w="5272815" h="6808024">
                <a:moveTo>
                  <a:pt x="0" y="6808024"/>
                </a:moveTo>
                <a:lnTo>
                  <a:pt x="5272815" y="6808024"/>
                </a:lnTo>
                <a:lnTo>
                  <a:pt x="5272815" y="0"/>
                </a:lnTo>
                <a:lnTo>
                  <a:pt x="0" y="0"/>
                </a:lnTo>
                <a:lnTo>
                  <a:pt x="0" y="6808024"/>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2778549" y="2221897"/>
            <a:ext cx="12505936" cy="6681718"/>
          </a:xfrm>
          <a:custGeom>
            <a:avLst/>
            <a:gdLst/>
            <a:ahLst/>
            <a:cxnLst/>
            <a:rect l="l" t="t" r="r" b="b"/>
            <a:pathLst>
              <a:path w="12505936" h="6681718">
                <a:moveTo>
                  <a:pt x="0" y="0"/>
                </a:moveTo>
                <a:lnTo>
                  <a:pt x="12505936" y="0"/>
                </a:lnTo>
                <a:lnTo>
                  <a:pt x="12505936" y="6681718"/>
                </a:lnTo>
                <a:lnTo>
                  <a:pt x="0" y="6681718"/>
                </a:lnTo>
                <a:lnTo>
                  <a:pt x="0" y="0"/>
                </a:lnTo>
                <a:close/>
              </a:path>
            </a:pathLst>
          </a:custGeom>
          <a:blipFill>
            <a:blip r:embed="rId7"/>
            <a:stretch>
              <a:fillRect t="-19560" b="-701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560</Words>
  <Application>Microsoft Office PowerPoint</Application>
  <PresentationFormat>Custom</PresentationFormat>
  <Paragraphs>86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Assistant Ultra-Bold</vt:lpstr>
      <vt:lpstr>Century Gothic Paneuropean</vt:lpstr>
      <vt:lpstr>Agrandir Narrow</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White Geometric Abstract Presentation</dc:title>
  <cp:lastModifiedBy>monilmaisuriya36@gmail.com</cp:lastModifiedBy>
  <cp:revision>4</cp:revision>
  <dcterms:created xsi:type="dcterms:W3CDTF">2006-08-16T00:00:00Z</dcterms:created>
  <dcterms:modified xsi:type="dcterms:W3CDTF">2025-09-22T08:14:03Z</dcterms:modified>
  <dc:identifier>DAGzoazhFVM</dc:identifier>
</cp:coreProperties>
</file>