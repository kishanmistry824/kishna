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grandir Narrow" panose="020B0604020202020204" charset="0"/>
      <p:regular r:id="rId16"/>
    </p:embeddedFont>
    <p:embeddedFont>
      <p:font typeface="Assistant Ultra-Bold" panose="020B0604020202020204" charset="-79"/>
      <p:regular r:id="rId17"/>
    </p:embeddedFont>
    <p:embeddedFont>
      <p:font typeface="Century Gothic Paneuropean"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6.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a:off x="12496753" y="9109918"/>
            <a:ext cx="5829347" cy="6135263"/>
          </a:xfrm>
          <a:custGeom>
            <a:avLst/>
            <a:gdLst/>
            <a:ahLst/>
            <a:cxnLst/>
            <a:rect l="l" t="t" r="r" b="b"/>
            <a:pathLst>
              <a:path w="5829347" h="6135263">
                <a:moveTo>
                  <a:pt x="0" y="0"/>
                </a:moveTo>
                <a:lnTo>
                  <a:pt x="5829347" y="0"/>
                </a:lnTo>
                <a:lnTo>
                  <a:pt x="5829347" y="6135263"/>
                </a:lnTo>
                <a:lnTo>
                  <a:pt x="0" y="61352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0" y="-4257824"/>
            <a:ext cx="5829347" cy="6135263"/>
          </a:xfrm>
          <a:custGeom>
            <a:avLst/>
            <a:gdLst/>
            <a:ahLst/>
            <a:cxnLst/>
            <a:rect l="l" t="t" r="r" b="b"/>
            <a:pathLst>
              <a:path w="5829347" h="6135263">
                <a:moveTo>
                  <a:pt x="0" y="0"/>
                </a:moveTo>
                <a:lnTo>
                  <a:pt x="5829347" y="0"/>
                </a:lnTo>
                <a:lnTo>
                  <a:pt x="5829347" y="6135263"/>
                </a:lnTo>
                <a:lnTo>
                  <a:pt x="0" y="61352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3478976"/>
            <a:ext cx="5272815" cy="6808024"/>
          </a:xfrm>
          <a:custGeom>
            <a:avLst/>
            <a:gdLst/>
            <a:ahLst/>
            <a:cxnLst/>
            <a:rect l="l" t="t" r="r" b="b"/>
            <a:pathLst>
              <a:path w="5272815" h="6808024">
                <a:moveTo>
                  <a:pt x="5272815" y="0"/>
                </a:moveTo>
                <a:lnTo>
                  <a:pt x="0" y="0"/>
                </a:lnTo>
                <a:lnTo>
                  <a:pt x="0" y="6808024"/>
                </a:lnTo>
                <a:lnTo>
                  <a:pt x="5272815" y="6808024"/>
                </a:lnTo>
                <a:lnTo>
                  <a:pt x="5272815"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0" y="4386809"/>
            <a:ext cx="16856054" cy="3469732"/>
          </a:xfrm>
          <a:prstGeom prst="rect">
            <a:avLst/>
          </a:prstGeom>
        </p:spPr>
        <p:txBody>
          <a:bodyPr lIns="0" tIns="0" rIns="0" bIns="0" rtlCol="0" anchor="t">
            <a:spAutoFit/>
          </a:bodyPr>
          <a:lstStyle/>
          <a:p>
            <a:pPr algn="ctr">
              <a:lnSpc>
                <a:spcPts val="11200"/>
              </a:lnSpc>
            </a:pPr>
            <a:r>
              <a:rPr lang="en-US" sz="8000" b="1" dirty="0">
                <a:solidFill>
                  <a:srgbClr val="FAFAFA"/>
                </a:solidFill>
                <a:latin typeface="Assistant Ultra-Bold"/>
                <a:ea typeface="Assistant Ultra-Bold"/>
                <a:cs typeface="Assistant Ultra-Bold"/>
                <a:sym typeface="Assistant Ultra-Bold"/>
              </a:rPr>
              <a:t>Smart Hire Job Portal</a:t>
            </a:r>
          </a:p>
          <a:p>
            <a:pPr algn="ctr">
              <a:lnSpc>
                <a:spcPts val="11200"/>
              </a:lnSpc>
            </a:pPr>
            <a:r>
              <a:rPr lang="en-US" sz="8000" b="1" dirty="0">
                <a:solidFill>
                  <a:srgbClr val="FAFAFA"/>
                </a:solidFill>
                <a:latin typeface="Assistant Ultra-Bold"/>
                <a:ea typeface="Assistant Ultra-Bold"/>
                <a:cs typeface="Assistant Ultra-Bold"/>
                <a:sym typeface="Assistant Ultra-Bold"/>
              </a:rPr>
              <a:t>(Web Application) </a:t>
            </a:r>
          </a:p>
          <a:p>
            <a:pPr algn="ctr">
              <a:lnSpc>
                <a:spcPts val="3359"/>
              </a:lnSpc>
            </a:pPr>
            <a:endParaRPr lang="en-US" sz="8000" b="1" dirty="0">
              <a:solidFill>
                <a:srgbClr val="FAFAFA"/>
              </a:solidFill>
              <a:latin typeface="Assistant Ultra-Bold"/>
              <a:ea typeface="Assistant Ultra-Bold"/>
              <a:cs typeface="Assistant Ultra-Bold"/>
              <a:sym typeface="Assistant Ultra-Bold"/>
            </a:endParaRPr>
          </a:p>
        </p:txBody>
      </p:sp>
      <p:sp>
        <p:nvSpPr>
          <p:cNvPr id="7" name="Freeform 7"/>
          <p:cNvSpPr/>
          <p:nvPr/>
        </p:nvSpPr>
        <p:spPr>
          <a:xfrm flipV="1">
            <a:off x="13015185" y="0"/>
            <a:ext cx="5272815" cy="6808024"/>
          </a:xfrm>
          <a:custGeom>
            <a:avLst/>
            <a:gdLst/>
            <a:ahLst/>
            <a:cxnLst/>
            <a:rect l="l" t="t" r="r" b="b"/>
            <a:pathLst>
              <a:path w="5272815" h="6808024">
                <a:moveTo>
                  <a:pt x="0" y="6808024"/>
                </a:moveTo>
                <a:lnTo>
                  <a:pt x="5272815" y="6808024"/>
                </a:lnTo>
                <a:lnTo>
                  <a:pt x="5272815" y="0"/>
                </a:lnTo>
                <a:lnTo>
                  <a:pt x="0" y="0"/>
                </a:lnTo>
                <a:lnTo>
                  <a:pt x="0" y="6808024"/>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7429329" y="0"/>
            <a:ext cx="10858671" cy="2699574"/>
          </a:xfrm>
          <a:custGeom>
            <a:avLst/>
            <a:gdLst/>
            <a:ahLst/>
            <a:cxnLst/>
            <a:rect l="l" t="t" r="r" b="b"/>
            <a:pathLst>
              <a:path w="10858671" h="2699574">
                <a:moveTo>
                  <a:pt x="0" y="0"/>
                </a:moveTo>
                <a:lnTo>
                  <a:pt x="10858671" y="0"/>
                </a:lnTo>
                <a:lnTo>
                  <a:pt x="10858671" y="2699574"/>
                </a:lnTo>
                <a:lnTo>
                  <a:pt x="0" y="2699574"/>
                </a:lnTo>
                <a:lnTo>
                  <a:pt x="0" y="0"/>
                </a:lnTo>
                <a:close/>
              </a:path>
            </a:pathLst>
          </a:custGeom>
          <a:blipFill>
            <a:blip r:embed="rId7"/>
            <a:stretch>
              <a:fillRect l="-188"/>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rot="-5400000">
            <a:off x="16126360" y="7562406"/>
            <a:ext cx="4894640" cy="4055118"/>
          </a:xfrm>
          <a:custGeom>
            <a:avLst/>
            <a:gdLst/>
            <a:ahLst/>
            <a:cxnLst/>
            <a:rect l="l" t="t" r="r" b="b"/>
            <a:pathLst>
              <a:path w="4894640" h="4055118">
                <a:moveTo>
                  <a:pt x="0" y="0"/>
                </a:moveTo>
                <a:lnTo>
                  <a:pt x="4894640" y="0"/>
                </a:lnTo>
                <a:lnTo>
                  <a:pt x="4894640" y="4055118"/>
                </a:lnTo>
                <a:lnTo>
                  <a:pt x="0" y="40551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166490" y="-395035"/>
            <a:ext cx="4966678" cy="4114800"/>
          </a:xfrm>
          <a:custGeom>
            <a:avLst/>
            <a:gdLst/>
            <a:ahLst/>
            <a:cxnLst/>
            <a:rect l="l" t="t" r="r" b="b"/>
            <a:pathLst>
              <a:path w="4966678" h="4114800">
                <a:moveTo>
                  <a:pt x="0" y="0"/>
                </a:moveTo>
                <a:lnTo>
                  <a:pt x="4966678" y="0"/>
                </a:lnTo>
                <a:lnTo>
                  <a:pt x="49666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695999" y="2521914"/>
            <a:ext cx="13850122" cy="7068051"/>
            <a:chOff x="0" y="0"/>
            <a:chExt cx="3647769" cy="1861544"/>
          </a:xfrm>
        </p:grpSpPr>
        <p:sp>
          <p:nvSpPr>
            <p:cNvPr id="5" name="Freeform 5"/>
            <p:cNvSpPr/>
            <p:nvPr/>
          </p:nvSpPr>
          <p:spPr>
            <a:xfrm>
              <a:off x="0" y="0"/>
              <a:ext cx="3647769" cy="1861544"/>
            </a:xfrm>
            <a:custGeom>
              <a:avLst/>
              <a:gdLst/>
              <a:ahLst/>
              <a:cxnLst/>
              <a:rect l="l" t="t" r="r" b="b"/>
              <a:pathLst>
                <a:path w="3647769" h="1861544">
                  <a:moveTo>
                    <a:pt x="55898" y="0"/>
                  </a:moveTo>
                  <a:lnTo>
                    <a:pt x="3591871" y="0"/>
                  </a:lnTo>
                  <a:cubicBezTo>
                    <a:pt x="3622742" y="0"/>
                    <a:pt x="3647769" y="25026"/>
                    <a:pt x="3647769" y="55898"/>
                  </a:cubicBezTo>
                  <a:lnTo>
                    <a:pt x="3647769" y="1805646"/>
                  </a:lnTo>
                  <a:cubicBezTo>
                    <a:pt x="3647769" y="1820471"/>
                    <a:pt x="3641880" y="1834689"/>
                    <a:pt x="3631397" y="1845172"/>
                  </a:cubicBezTo>
                  <a:cubicBezTo>
                    <a:pt x="3620914" y="1855655"/>
                    <a:pt x="3606696" y="1861544"/>
                    <a:pt x="3591871" y="1861544"/>
                  </a:cubicBezTo>
                  <a:lnTo>
                    <a:pt x="55898" y="1861544"/>
                  </a:lnTo>
                  <a:cubicBezTo>
                    <a:pt x="25026" y="1861544"/>
                    <a:pt x="0" y="1836518"/>
                    <a:pt x="0" y="1805646"/>
                  </a:cubicBezTo>
                  <a:lnTo>
                    <a:pt x="0" y="55898"/>
                  </a:lnTo>
                  <a:cubicBezTo>
                    <a:pt x="0" y="25026"/>
                    <a:pt x="25026" y="0"/>
                    <a:pt x="55898" y="0"/>
                  </a:cubicBezTo>
                  <a:close/>
                </a:path>
              </a:pathLst>
            </a:custGeom>
            <a:solidFill>
              <a:srgbClr val="FAFAFA"/>
            </a:solidFill>
          </p:spPr>
        </p:sp>
        <p:sp>
          <p:nvSpPr>
            <p:cNvPr id="6" name="TextBox 6"/>
            <p:cNvSpPr txBox="1"/>
            <p:nvPr/>
          </p:nvSpPr>
          <p:spPr>
            <a:xfrm>
              <a:off x="0" y="-314325"/>
              <a:ext cx="3647769" cy="2175869"/>
            </a:xfrm>
            <a:prstGeom prst="rect">
              <a:avLst/>
            </a:prstGeom>
          </p:spPr>
          <p:txBody>
            <a:bodyPr lIns="50800" tIns="50800" rIns="50800" bIns="50800" rtlCol="0" anchor="ctr"/>
            <a:lstStyle/>
            <a:p>
              <a:pPr algn="ctr">
                <a:lnSpc>
                  <a:spcPts val="8959"/>
                </a:lnSpc>
              </a:pPr>
              <a:endParaRPr/>
            </a:p>
          </p:txBody>
        </p:sp>
      </p:grpSp>
      <p:sp>
        <p:nvSpPr>
          <p:cNvPr id="7" name="TextBox 7"/>
          <p:cNvSpPr txBox="1"/>
          <p:nvPr/>
        </p:nvSpPr>
        <p:spPr>
          <a:xfrm>
            <a:off x="157431" y="3060489"/>
            <a:ext cx="10227411" cy="1085215"/>
          </a:xfrm>
          <a:prstGeom prst="rect">
            <a:avLst/>
          </a:prstGeom>
        </p:spPr>
        <p:txBody>
          <a:bodyPr lIns="0" tIns="0" rIns="0" bIns="0" rtlCol="0" anchor="t">
            <a:spAutoFit/>
          </a:bodyPr>
          <a:lstStyle/>
          <a:p>
            <a:pPr algn="ctr">
              <a:lnSpc>
                <a:spcPts val="8959"/>
              </a:lnSpc>
            </a:pPr>
            <a:r>
              <a:rPr lang="en-US" sz="6399" b="1">
                <a:solidFill>
                  <a:srgbClr val="004A7C"/>
                </a:solidFill>
                <a:latin typeface="Assistant Ultra-Bold"/>
                <a:ea typeface="Assistant Ultra-Bold"/>
                <a:cs typeface="Assistant Ultra-Bold"/>
                <a:sym typeface="Assistant Ultra-Bold"/>
              </a:rPr>
              <a:t>Group No:43</a:t>
            </a:r>
          </a:p>
        </p:txBody>
      </p:sp>
      <p:sp>
        <p:nvSpPr>
          <p:cNvPr id="8" name="TextBox 8"/>
          <p:cNvSpPr txBox="1"/>
          <p:nvPr/>
        </p:nvSpPr>
        <p:spPr>
          <a:xfrm>
            <a:off x="2374249" y="4220567"/>
            <a:ext cx="10152074" cy="4020410"/>
          </a:xfrm>
          <a:prstGeom prst="rect">
            <a:avLst/>
          </a:prstGeom>
        </p:spPr>
        <p:txBody>
          <a:bodyPr lIns="0" tIns="0" rIns="0" bIns="0" rtlCol="0" anchor="t">
            <a:spAutoFit/>
          </a:bodyPr>
          <a:lstStyle/>
          <a:p>
            <a:pPr algn="ctr">
              <a:lnSpc>
                <a:spcPts val="6404"/>
              </a:lnSpc>
            </a:pPr>
            <a:r>
              <a:rPr lang="en-US" sz="4574" b="1">
                <a:solidFill>
                  <a:srgbClr val="004A7C"/>
                </a:solidFill>
                <a:latin typeface="Assistant Ultra-Bold"/>
                <a:ea typeface="Assistant Ultra-Bold"/>
                <a:cs typeface="Assistant Ultra-Bold"/>
                <a:sym typeface="Assistant Ultra-Bold"/>
              </a:rPr>
              <a:t>Presented By:-  Kishan Mistry(681)</a:t>
            </a:r>
          </a:p>
          <a:p>
            <a:pPr algn="ctr">
              <a:lnSpc>
                <a:spcPts val="6404"/>
              </a:lnSpc>
            </a:pPr>
            <a:r>
              <a:rPr lang="en-US" sz="4574" b="1">
                <a:solidFill>
                  <a:srgbClr val="004A7C"/>
                </a:solidFill>
                <a:latin typeface="Assistant Ultra-Bold"/>
                <a:ea typeface="Assistant Ultra-Bold"/>
                <a:cs typeface="Assistant Ultra-Bold"/>
                <a:sym typeface="Assistant Ultra-Bold"/>
              </a:rPr>
              <a:t>                                      Monil Maisuriya(698)</a:t>
            </a:r>
          </a:p>
          <a:p>
            <a:pPr algn="ctr">
              <a:lnSpc>
                <a:spcPts val="6404"/>
              </a:lnSpc>
            </a:pPr>
            <a:r>
              <a:rPr lang="en-US" sz="4574" b="1">
                <a:solidFill>
                  <a:srgbClr val="004A7C"/>
                </a:solidFill>
                <a:latin typeface="Assistant Ultra-Bold"/>
                <a:ea typeface="Assistant Ultra-Bold"/>
                <a:cs typeface="Assistant Ultra-Bold"/>
                <a:sym typeface="Assistant Ultra-Bold"/>
              </a:rPr>
              <a:t>                                     Vishal Jariwala(886)</a:t>
            </a:r>
          </a:p>
          <a:p>
            <a:pPr algn="ctr">
              <a:lnSpc>
                <a:spcPts val="6404"/>
              </a:lnSpc>
            </a:pPr>
            <a:r>
              <a:rPr lang="en-US" sz="4574" b="1">
                <a:solidFill>
                  <a:srgbClr val="004A7C"/>
                </a:solidFill>
                <a:latin typeface="Assistant Ultra-Bold"/>
                <a:ea typeface="Assistant Ultra-Bold"/>
                <a:cs typeface="Assistant Ultra-Bold"/>
                <a:sym typeface="Assistant Ultra-Bold"/>
              </a:rPr>
              <a:t>                                Meetkumar Vasava(394)</a:t>
            </a:r>
          </a:p>
          <a:p>
            <a:pPr algn="ctr">
              <a:lnSpc>
                <a:spcPts val="6404"/>
              </a:lnSpc>
            </a:pPr>
            <a:endParaRPr lang="en-US" sz="4574" b="1">
              <a:solidFill>
                <a:srgbClr val="004A7C"/>
              </a:solidFill>
              <a:latin typeface="Assistant Ultra-Bold"/>
              <a:ea typeface="Assistant Ultra-Bold"/>
              <a:cs typeface="Assistant Ultra-Bold"/>
              <a:sym typeface="Assistant Ultra-Bold"/>
            </a:endParaRPr>
          </a:p>
        </p:txBody>
      </p:sp>
      <p:sp>
        <p:nvSpPr>
          <p:cNvPr id="9" name="TextBox 9"/>
          <p:cNvSpPr txBox="1"/>
          <p:nvPr/>
        </p:nvSpPr>
        <p:spPr>
          <a:xfrm>
            <a:off x="1625746" y="7650745"/>
            <a:ext cx="12579335" cy="953135"/>
          </a:xfrm>
          <a:prstGeom prst="rect">
            <a:avLst/>
          </a:prstGeom>
        </p:spPr>
        <p:txBody>
          <a:bodyPr lIns="0" tIns="0" rIns="0" bIns="0" rtlCol="0" anchor="t">
            <a:spAutoFit/>
          </a:bodyPr>
          <a:lstStyle/>
          <a:p>
            <a:pPr algn="ctr">
              <a:lnSpc>
                <a:spcPts val="7840"/>
              </a:lnSpc>
            </a:pPr>
            <a:r>
              <a:rPr lang="en-US" sz="5600" b="1">
                <a:solidFill>
                  <a:srgbClr val="004A7C"/>
                </a:solidFill>
                <a:latin typeface="Assistant Ultra-Bold"/>
                <a:ea typeface="Assistant Ultra-Bold"/>
                <a:cs typeface="Assistant Ultra-Bold"/>
                <a:sym typeface="Assistant Ultra-Bold"/>
              </a:rPr>
              <a:t>Guided By:- Prof.Jaimini Patel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grpSp>
        <p:nvGrpSpPr>
          <p:cNvPr id="2" name="Group 2"/>
          <p:cNvGrpSpPr/>
          <p:nvPr/>
        </p:nvGrpSpPr>
        <p:grpSpPr>
          <a:xfrm>
            <a:off x="2272028" y="382664"/>
            <a:ext cx="12896002" cy="1292071"/>
            <a:chOff x="0" y="0"/>
            <a:chExt cx="3396478" cy="340299"/>
          </a:xfrm>
        </p:grpSpPr>
        <p:sp>
          <p:nvSpPr>
            <p:cNvPr id="3" name="Freeform 3"/>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4" name="TextBox 4"/>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119971" y="42693"/>
            <a:ext cx="10889826" cy="1767920"/>
          </a:xfrm>
          <a:prstGeom prst="rect">
            <a:avLst/>
          </a:prstGeom>
        </p:spPr>
        <p:txBody>
          <a:bodyPr wrap="square" lIns="0" tIns="0" rIns="0" bIns="0" rtlCol="0" anchor="t">
            <a:spAutoFit/>
          </a:bodyPr>
          <a:lstStyle/>
          <a:p>
            <a:pPr algn="ctr">
              <a:lnSpc>
                <a:spcPts val="14681"/>
              </a:lnSpc>
            </a:pPr>
            <a:r>
              <a:rPr lang="en-US" sz="10486" b="1" dirty="0">
                <a:solidFill>
                  <a:srgbClr val="004A7C"/>
                </a:solidFill>
                <a:latin typeface="Assistant Ultra-Bold"/>
                <a:ea typeface="Assistant Ultra-Bold"/>
                <a:cs typeface="Assistant Ultra-Bold"/>
                <a:sym typeface="Assistant Ultra-Bold"/>
              </a:rPr>
              <a:t>Member’s Profile</a:t>
            </a:r>
          </a:p>
        </p:txBody>
      </p:sp>
      <p:sp>
        <p:nvSpPr>
          <p:cNvPr id="19" name="TextBox 4">
            <a:extLst>
              <a:ext uri="{FF2B5EF4-FFF2-40B4-BE49-F238E27FC236}">
                <a16:creationId xmlns:a16="http://schemas.microsoft.com/office/drawing/2014/main" id="{FFFC4604-71A6-42A0-A7C2-46FD4736ED89}"/>
              </a:ext>
            </a:extLst>
          </p:cNvPr>
          <p:cNvSpPr txBox="1"/>
          <p:nvPr/>
        </p:nvSpPr>
        <p:spPr>
          <a:xfrm>
            <a:off x="2272028" y="57177"/>
            <a:ext cx="12896002" cy="1617558"/>
          </a:xfrm>
          <a:prstGeom prst="rect">
            <a:avLst/>
          </a:prstGeom>
        </p:spPr>
        <p:txBody>
          <a:bodyPr lIns="50800" tIns="50800" rIns="50800" bIns="50800" rtlCol="0" anchor="ctr"/>
          <a:lstStyle/>
          <a:p>
            <a:pPr algn="ctr">
              <a:lnSpc>
                <a:spcPts val="2659"/>
              </a:lnSpc>
            </a:pPr>
            <a:endParaRPr/>
          </a:p>
        </p:txBody>
      </p:sp>
      <p:graphicFrame>
        <p:nvGraphicFramePr>
          <p:cNvPr id="20" name="Table 19">
            <a:extLst>
              <a:ext uri="{FF2B5EF4-FFF2-40B4-BE49-F238E27FC236}">
                <a16:creationId xmlns:a16="http://schemas.microsoft.com/office/drawing/2014/main" id="{857D4B42-0C88-1020-B632-70F1309136D8}"/>
              </a:ext>
            </a:extLst>
          </p:cNvPr>
          <p:cNvGraphicFramePr>
            <a:graphicFrameLocks noGrp="1"/>
          </p:cNvGraphicFramePr>
          <p:nvPr>
            <p:extLst>
              <p:ext uri="{D42A27DB-BD31-4B8C-83A1-F6EECF244321}">
                <p14:modId xmlns:p14="http://schemas.microsoft.com/office/powerpoint/2010/main" val="3399283415"/>
              </p:ext>
            </p:extLst>
          </p:nvPr>
        </p:nvGraphicFramePr>
        <p:xfrm>
          <a:off x="1676400" y="6134100"/>
          <a:ext cx="6858000" cy="3048000"/>
        </p:xfrm>
        <a:graphic>
          <a:graphicData uri="http://schemas.openxmlformats.org/drawingml/2006/table">
            <a:tbl>
              <a:tblPr firstRow="1" bandRow="1">
                <a:tableStyleId>{073A0DAA-6AF3-43AB-8588-CEC1D06C72B9}</a:tableStyleId>
              </a:tblPr>
              <a:tblGrid>
                <a:gridCol w="1917291">
                  <a:extLst>
                    <a:ext uri="{9D8B030D-6E8A-4147-A177-3AD203B41FA5}">
                      <a16:colId xmlns:a16="http://schemas.microsoft.com/office/drawing/2014/main" val="853701021"/>
                    </a:ext>
                  </a:extLst>
                </a:gridCol>
                <a:gridCol w="4940709">
                  <a:extLst>
                    <a:ext uri="{9D8B030D-6E8A-4147-A177-3AD203B41FA5}">
                      <a16:colId xmlns:a16="http://schemas.microsoft.com/office/drawing/2014/main" val="3519010096"/>
                    </a:ext>
                  </a:extLst>
                </a:gridCol>
              </a:tblGrid>
              <a:tr h="609600">
                <a:tc>
                  <a:txBody>
                    <a:bodyPr/>
                    <a:lstStyle/>
                    <a:p>
                      <a:r>
                        <a:rPr lang="en-US" dirty="0"/>
                        <a:t>Exam No</a:t>
                      </a:r>
                      <a:endParaRPr lang="en-IN" dirty="0"/>
                    </a:p>
                  </a:txBody>
                  <a:tcPr/>
                </a:tc>
                <a:tc>
                  <a:txBody>
                    <a:bodyPr/>
                    <a:lstStyle/>
                    <a:p>
                      <a:r>
                        <a:rPr lang="en-US" dirty="0"/>
                        <a:t>7436</a:t>
                      </a:r>
                      <a:endParaRPr lang="en-IN" dirty="0"/>
                    </a:p>
                  </a:txBody>
                  <a:tcPr/>
                </a:tc>
                <a:extLst>
                  <a:ext uri="{0D108BD9-81ED-4DB2-BD59-A6C34878D82A}">
                    <a16:rowId xmlns:a16="http://schemas.microsoft.com/office/drawing/2014/main" val="4055118055"/>
                  </a:ext>
                </a:extLst>
              </a:tr>
              <a:tr h="609600">
                <a:tc>
                  <a:txBody>
                    <a:bodyPr/>
                    <a:lstStyle/>
                    <a:p>
                      <a:r>
                        <a:rPr lang="en-US" dirty="0"/>
                        <a:t>Name</a:t>
                      </a:r>
                      <a:endParaRPr lang="en-IN" dirty="0"/>
                    </a:p>
                  </a:txBody>
                  <a:tcPr/>
                </a:tc>
                <a:tc>
                  <a:txBody>
                    <a:bodyPr/>
                    <a:lstStyle/>
                    <a:p>
                      <a:r>
                        <a:rPr lang="en-US" dirty="0"/>
                        <a:t>Jariwala </a:t>
                      </a:r>
                      <a:r>
                        <a:rPr lang="en-US" dirty="0" err="1"/>
                        <a:t>Vishalkumar</a:t>
                      </a:r>
                      <a:r>
                        <a:rPr lang="en-US" dirty="0"/>
                        <a:t> </a:t>
                      </a:r>
                      <a:r>
                        <a:rPr lang="en-US" dirty="0" err="1"/>
                        <a:t>Bipinkumar</a:t>
                      </a:r>
                      <a:r>
                        <a:rPr lang="en-US" dirty="0"/>
                        <a:t> </a:t>
                      </a:r>
                      <a:endParaRPr lang="en-IN" dirty="0"/>
                    </a:p>
                  </a:txBody>
                  <a:tcPr/>
                </a:tc>
                <a:extLst>
                  <a:ext uri="{0D108BD9-81ED-4DB2-BD59-A6C34878D82A}">
                    <a16:rowId xmlns:a16="http://schemas.microsoft.com/office/drawing/2014/main" val="3688174326"/>
                  </a:ext>
                </a:extLst>
              </a:tr>
              <a:tr h="609600">
                <a:tc>
                  <a:txBody>
                    <a:bodyPr/>
                    <a:lstStyle/>
                    <a:p>
                      <a:r>
                        <a:rPr lang="en-US" dirty="0"/>
                        <a:t>Roll no</a:t>
                      </a:r>
                      <a:endParaRPr lang="en-IN" dirty="0"/>
                    </a:p>
                  </a:txBody>
                  <a:tcPr/>
                </a:tc>
                <a:tc>
                  <a:txBody>
                    <a:bodyPr/>
                    <a:lstStyle/>
                    <a:p>
                      <a:r>
                        <a:rPr lang="en-US" dirty="0"/>
                        <a:t>886</a:t>
                      </a:r>
                      <a:endParaRPr lang="en-IN" dirty="0"/>
                    </a:p>
                  </a:txBody>
                  <a:tcPr/>
                </a:tc>
                <a:extLst>
                  <a:ext uri="{0D108BD9-81ED-4DB2-BD59-A6C34878D82A}">
                    <a16:rowId xmlns:a16="http://schemas.microsoft.com/office/drawing/2014/main" val="894190113"/>
                  </a:ext>
                </a:extLst>
              </a:tr>
              <a:tr h="609600">
                <a:tc>
                  <a:txBody>
                    <a:bodyPr/>
                    <a:lstStyle/>
                    <a:p>
                      <a:r>
                        <a:rPr lang="en-US" dirty="0"/>
                        <a:t>Division </a:t>
                      </a:r>
                      <a:endParaRPr lang="en-IN" dirty="0"/>
                    </a:p>
                  </a:txBody>
                  <a:tcPr/>
                </a:tc>
                <a:tc>
                  <a:txBody>
                    <a:bodyPr/>
                    <a:lstStyle/>
                    <a:p>
                      <a:r>
                        <a:rPr lang="en-US" dirty="0"/>
                        <a:t>H</a:t>
                      </a:r>
                      <a:endParaRPr lang="en-IN" dirty="0"/>
                    </a:p>
                  </a:txBody>
                  <a:tcPr/>
                </a:tc>
                <a:extLst>
                  <a:ext uri="{0D108BD9-81ED-4DB2-BD59-A6C34878D82A}">
                    <a16:rowId xmlns:a16="http://schemas.microsoft.com/office/drawing/2014/main" val="2881589244"/>
                  </a:ext>
                </a:extLst>
              </a:tr>
              <a:tr h="609600">
                <a:tc>
                  <a:txBody>
                    <a:bodyPr/>
                    <a:lstStyle/>
                    <a:p>
                      <a:r>
                        <a:rPr lang="en-US" dirty="0"/>
                        <a:t>Year</a:t>
                      </a:r>
                      <a:endParaRPr lang="en-IN" dirty="0"/>
                    </a:p>
                  </a:txBody>
                  <a:tcPr/>
                </a:tc>
                <a:tc>
                  <a:txBody>
                    <a:bodyPr/>
                    <a:lstStyle/>
                    <a:p>
                      <a:r>
                        <a:rPr lang="en-US" dirty="0"/>
                        <a:t>TYBCA</a:t>
                      </a:r>
                      <a:endParaRPr lang="en-IN" dirty="0"/>
                    </a:p>
                  </a:txBody>
                  <a:tcPr/>
                </a:tc>
                <a:extLst>
                  <a:ext uri="{0D108BD9-81ED-4DB2-BD59-A6C34878D82A}">
                    <a16:rowId xmlns:a16="http://schemas.microsoft.com/office/drawing/2014/main" val="3171936697"/>
                  </a:ext>
                </a:extLst>
              </a:tr>
            </a:tbl>
          </a:graphicData>
        </a:graphic>
      </p:graphicFrame>
      <p:graphicFrame>
        <p:nvGraphicFramePr>
          <p:cNvPr id="21" name="Table 20">
            <a:extLst>
              <a:ext uri="{FF2B5EF4-FFF2-40B4-BE49-F238E27FC236}">
                <a16:creationId xmlns:a16="http://schemas.microsoft.com/office/drawing/2014/main" id="{6E4DDEDD-2021-B968-4E1E-85A5F63DD60B}"/>
              </a:ext>
            </a:extLst>
          </p:cNvPr>
          <p:cNvGraphicFramePr>
            <a:graphicFrameLocks noGrp="1"/>
          </p:cNvGraphicFramePr>
          <p:nvPr>
            <p:extLst>
              <p:ext uri="{D42A27DB-BD31-4B8C-83A1-F6EECF244321}">
                <p14:modId xmlns:p14="http://schemas.microsoft.com/office/powerpoint/2010/main" val="1041362016"/>
              </p:ext>
            </p:extLst>
          </p:nvPr>
        </p:nvGraphicFramePr>
        <p:xfrm>
          <a:off x="1676400" y="2587329"/>
          <a:ext cx="6858000" cy="3048000"/>
        </p:xfrm>
        <a:graphic>
          <a:graphicData uri="http://schemas.openxmlformats.org/drawingml/2006/table">
            <a:tbl>
              <a:tblPr firstRow="1" bandRow="1">
                <a:tableStyleId>{073A0DAA-6AF3-43AB-8588-CEC1D06C72B9}</a:tableStyleId>
              </a:tblPr>
              <a:tblGrid>
                <a:gridCol w="1917291">
                  <a:extLst>
                    <a:ext uri="{9D8B030D-6E8A-4147-A177-3AD203B41FA5}">
                      <a16:colId xmlns:a16="http://schemas.microsoft.com/office/drawing/2014/main" val="853701021"/>
                    </a:ext>
                  </a:extLst>
                </a:gridCol>
                <a:gridCol w="4940709">
                  <a:extLst>
                    <a:ext uri="{9D8B030D-6E8A-4147-A177-3AD203B41FA5}">
                      <a16:colId xmlns:a16="http://schemas.microsoft.com/office/drawing/2014/main" val="3519010096"/>
                    </a:ext>
                  </a:extLst>
                </a:gridCol>
              </a:tblGrid>
              <a:tr h="609600">
                <a:tc>
                  <a:txBody>
                    <a:bodyPr/>
                    <a:lstStyle/>
                    <a:p>
                      <a:r>
                        <a:rPr lang="en-US" dirty="0"/>
                        <a:t>Exam No</a:t>
                      </a:r>
                      <a:endParaRPr lang="en-IN" dirty="0"/>
                    </a:p>
                  </a:txBody>
                  <a:tcPr/>
                </a:tc>
                <a:tc>
                  <a:txBody>
                    <a:bodyPr/>
                    <a:lstStyle/>
                    <a:p>
                      <a:r>
                        <a:rPr lang="en-US" dirty="0"/>
                        <a:t>7581</a:t>
                      </a:r>
                      <a:endParaRPr lang="en-IN" dirty="0"/>
                    </a:p>
                  </a:txBody>
                  <a:tcPr/>
                </a:tc>
                <a:extLst>
                  <a:ext uri="{0D108BD9-81ED-4DB2-BD59-A6C34878D82A}">
                    <a16:rowId xmlns:a16="http://schemas.microsoft.com/office/drawing/2014/main" val="4055118055"/>
                  </a:ext>
                </a:extLst>
              </a:tr>
              <a:tr h="609600">
                <a:tc>
                  <a:txBody>
                    <a:bodyPr/>
                    <a:lstStyle/>
                    <a:p>
                      <a:r>
                        <a:rPr lang="en-US" dirty="0"/>
                        <a:t>Name</a:t>
                      </a:r>
                      <a:endParaRPr lang="en-IN" dirty="0"/>
                    </a:p>
                  </a:txBody>
                  <a:tcPr/>
                </a:tc>
                <a:tc>
                  <a:txBody>
                    <a:bodyPr/>
                    <a:lstStyle/>
                    <a:p>
                      <a:r>
                        <a:rPr lang="en-US" dirty="0"/>
                        <a:t>Mistry Kishan </a:t>
                      </a:r>
                      <a:r>
                        <a:rPr lang="en-US" dirty="0" err="1"/>
                        <a:t>Jayeshkumar</a:t>
                      </a:r>
                      <a:r>
                        <a:rPr lang="en-US" dirty="0"/>
                        <a:t> </a:t>
                      </a:r>
                      <a:endParaRPr lang="en-IN" dirty="0"/>
                    </a:p>
                  </a:txBody>
                  <a:tcPr/>
                </a:tc>
                <a:extLst>
                  <a:ext uri="{0D108BD9-81ED-4DB2-BD59-A6C34878D82A}">
                    <a16:rowId xmlns:a16="http://schemas.microsoft.com/office/drawing/2014/main" val="3688174326"/>
                  </a:ext>
                </a:extLst>
              </a:tr>
              <a:tr h="609600">
                <a:tc>
                  <a:txBody>
                    <a:bodyPr/>
                    <a:lstStyle/>
                    <a:p>
                      <a:r>
                        <a:rPr lang="en-US" dirty="0"/>
                        <a:t>Roll no</a:t>
                      </a:r>
                      <a:endParaRPr lang="en-IN" dirty="0"/>
                    </a:p>
                  </a:txBody>
                  <a:tcPr/>
                </a:tc>
                <a:tc>
                  <a:txBody>
                    <a:bodyPr/>
                    <a:lstStyle/>
                    <a:p>
                      <a:r>
                        <a:rPr lang="en-US" dirty="0"/>
                        <a:t>681</a:t>
                      </a:r>
                      <a:endParaRPr lang="en-IN" dirty="0"/>
                    </a:p>
                  </a:txBody>
                  <a:tcPr/>
                </a:tc>
                <a:extLst>
                  <a:ext uri="{0D108BD9-81ED-4DB2-BD59-A6C34878D82A}">
                    <a16:rowId xmlns:a16="http://schemas.microsoft.com/office/drawing/2014/main" val="894190113"/>
                  </a:ext>
                </a:extLst>
              </a:tr>
              <a:tr h="609600">
                <a:tc>
                  <a:txBody>
                    <a:bodyPr/>
                    <a:lstStyle/>
                    <a:p>
                      <a:r>
                        <a:rPr lang="en-US" dirty="0"/>
                        <a:t>Division </a:t>
                      </a:r>
                      <a:endParaRPr lang="en-IN" dirty="0"/>
                    </a:p>
                  </a:txBody>
                  <a:tcPr/>
                </a:tc>
                <a:tc>
                  <a:txBody>
                    <a:bodyPr/>
                    <a:lstStyle/>
                    <a:p>
                      <a:r>
                        <a:rPr lang="en-US" dirty="0"/>
                        <a:t>G</a:t>
                      </a:r>
                      <a:endParaRPr lang="en-IN" dirty="0"/>
                    </a:p>
                  </a:txBody>
                  <a:tcPr/>
                </a:tc>
                <a:extLst>
                  <a:ext uri="{0D108BD9-81ED-4DB2-BD59-A6C34878D82A}">
                    <a16:rowId xmlns:a16="http://schemas.microsoft.com/office/drawing/2014/main" val="2881589244"/>
                  </a:ext>
                </a:extLst>
              </a:tr>
              <a:tr h="609600">
                <a:tc>
                  <a:txBody>
                    <a:bodyPr/>
                    <a:lstStyle/>
                    <a:p>
                      <a:r>
                        <a:rPr lang="en-US" dirty="0"/>
                        <a:t>Year</a:t>
                      </a:r>
                      <a:endParaRPr lang="en-IN" dirty="0"/>
                    </a:p>
                  </a:txBody>
                  <a:tcPr/>
                </a:tc>
                <a:tc>
                  <a:txBody>
                    <a:bodyPr/>
                    <a:lstStyle/>
                    <a:p>
                      <a:r>
                        <a:rPr lang="en-US" dirty="0"/>
                        <a:t>TYBCA</a:t>
                      </a:r>
                      <a:endParaRPr lang="en-IN" dirty="0"/>
                    </a:p>
                  </a:txBody>
                  <a:tcPr/>
                </a:tc>
                <a:extLst>
                  <a:ext uri="{0D108BD9-81ED-4DB2-BD59-A6C34878D82A}">
                    <a16:rowId xmlns:a16="http://schemas.microsoft.com/office/drawing/2014/main" val="3171936697"/>
                  </a:ext>
                </a:extLst>
              </a:tr>
            </a:tbl>
          </a:graphicData>
        </a:graphic>
      </p:graphicFrame>
      <p:graphicFrame>
        <p:nvGraphicFramePr>
          <p:cNvPr id="22" name="Table 21">
            <a:extLst>
              <a:ext uri="{FF2B5EF4-FFF2-40B4-BE49-F238E27FC236}">
                <a16:creationId xmlns:a16="http://schemas.microsoft.com/office/drawing/2014/main" id="{59DE04F7-6989-B82C-431A-A65CFE6B9480}"/>
              </a:ext>
            </a:extLst>
          </p:cNvPr>
          <p:cNvGraphicFramePr>
            <a:graphicFrameLocks noGrp="1"/>
          </p:cNvGraphicFramePr>
          <p:nvPr>
            <p:extLst>
              <p:ext uri="{D42A27DB-BD31-4B8C-83A1-F6EECF244321}">
                <p14:modId xmlns:p14="http://schemas.microsoft.com/office/powerpoint/2010/main" val="553654835"/>
              </p:ext>
            </p:extLst>
          </p:nvPr>
        </p:nvGraphicFramePr>
        <p:xfrm>
          <a:off x="9961419" y="2656610"/>
          <a:ext cx="6858000" cy="3048000"/>
        </p:xfrm>
        <a:graphic>
          <a:graphicData uri="http://schemas.openxmlformats.org/drawingml/2006/table">
            <a:tbl>
              <a:tblPr firstRow="1" bandRow="1">
                <a:tableStyleId>{073A0DAA-6AF3-43AB-8588-CEC1D06C72B9}</a:tableStyleId>
              </a:tblPr>
              <a:tblGrid>
                <a:gridCol w="1917291">
                  <a:extLst>
                    <a:ext uri="{9D8B030D-6E8A-4147-A177-3AD203B41FA5}">
                      <a16:colId xmlns:a16="http://schemas.microsoft.com/office/drawing/2014/main" val="853701021"/>
                    </a:ext>
                  </a:extLst>
                </a:gridCol>
                <a:gridCol w="4940709">
                  <a:extLst>
                    <a:ext uri="{9D8B030D-6E8A-4147-A177-3AD203B41FA5}">
                      <a16:colId xmlns:a16="http://schemas.microsoft.com/office/drawing/2014/main" val="3519010096"/>
                    </a:ext>
                  </a:extLst>
                </a:gridCol>
              </a:tblGrid>
              <a:tr h="609600">
                <a:tc>
                  <a:txBody>
                    <a:bodyPr/>
                    <a:lstStyle/>
                    <a:p>
                      <a:r>
                        <a:rPr lang="en-US" dirty="0"/>
                        <a:t>Exam No</a:t>
                      </a:r>
                      <a:endParaRPr lang="en-IN" dirty="0"/>
                    </a:p>
                  </a:txBody>
                  <a:tcPr/>
                </a:tc>
                <a:tc>
                  <a:txBody>
                    <a:bodyPr/>
                    <a:lstStyle/>
                    <a:p>
                      <a:r>
                        <a:rPr lang="en-US" dirty="0"/>
                        <a:t>7545</a:t>
                      </a:r>
                      <a:endParaRPr lang="en-IN" dirty="0"/>
                    </a:p>
                  </a:txBody>
                  <a:tcPr/>
                </a:tc>
                <a:extLst>
                  <a:ext uri="{0D108BD9-81ED-4DB2-BD59-A6C34878D82A}">
                    <a16:rowId xmlns:a16="http://schemas.microsoft.com/office/drawing/2014/main" val="4055118055"/>
                  </a:ext>
                </a:extLst>
              </a:tr>
              <a:tr h="609600">
                <a:tc>
                  <a:txBody>
                    <a:bodyPr/>
                    <a:lstStyle/>
                    <a:p>
                      <a:r>
                        <a:rPr lang="en-US" dirty="0"/>
                        <a:t>Name</a:t>
                      </a:r>
                      <a:endParaRPr lang="en-IN" dirty="0"/>
                    </a:p>
                  </a:txBody>
                  <a:tcPr/>
                </a:tc>
                <a:tc>
                  <a:txBody>
                    <a:bodyPr/>
                    <a:lstStyle/>
                    <a:p>
                      <a:r>
                        <a:rPr lang="en-US" dirty="0"/>
                        <a:t>Maisuriya Monil </a:t>
                      </a:r>
                      <a:r>
                        <a:rPr lang="en-US" dirty="0" err="1"/>
                        <a:t>Sharadkumar</a:t>
                      </a:r>
                      <a:endParaRPr lang="en-IN" dirty="0"/>
                    </a:p>
                  </a:txBody>
                  <a:tcPr/>
                </a:tc>
                <a:extLst>
                  <a:ext uri="{0D108BD9-81ED-4DB2-BD59-A6C34878D82A}">
                    <a16:rowId xmlns:a16="http://schemas.microsoft.com/office/drawing/2014/main" val="3688174326"/>
                  </a:ext>
                </a:extLst>
              </a:tr>
              <a:tr h="609600">
                <a:tc>
                  <a:txBody>
                    <a:bodyPr/>
                    <a:lstStyle/>
                    <a:p>
                      <a:r>
                        <a:rPr lang="en-US" dirty="0"/>
                        <a:t>Roll no</a:t>
                      </a:r>
                      <a:endParaRPr lang="en-IN" dirty="0"/>
                    </a:p>
                  </a:txBody>
                  <a:tcPr/>
                </a:tc>
                <a:tc>
                  <a:txBody>
                    <a:bodyPr/>
                    <a:lstStyle/>
                    <a:p>
                      <a:r>
                        <a:rPr lang="en-US" dirty="0"/>
                        <a:t>698</a:t>
                      </a:r>
                      <a:endParaRPr lang="en-IN" dirty="0"/>
                    </a:p>
                  </a:txBody>
                  <a:tcPr/>
                </a:tc>
                <a:extLst>
                  <a:ext uri="{0D108BD9-81ED-4DB2-BD59-A6C34878D82A}">
                    <a16:rowId xmlns:a16="http://schemas.microsoft.com/office/drawing/2014/main" val="894190113"/>
                  </a:ext>
                </a:extLst>
              </a:tr>
              <a:tr h="609600">
                <a:tc>
                  <a:txBody>
                    <a:bodyPr/>
                    <a:lstStyle/>
                    <a:p>
                      <a:r>
                        <a:rPr lang="en-US" dirty="0"/>
                        <a:t>Division </a:t>
                      </a:r>
                      <a:endParaRPr lang="en-IN" dirty="0"/>
                    </a:p>
                  </a:txBody>
                  <a:tcPr/>
                </a:tc>
                <a:tc>
                  <a:txBody>
                    <a:bodyPr/>
                    <a:lstStyle/>
                    <a:p>
                      <a:r>
                        <a:rPr lang="en-US" dirty="0"/>
                        <a:t>G</a:t>
                      </a:r>
                      <a:endParaRPr lang="en-IN" dirty="0"/>
                    </a:p>
                  </a:txBody>
                  <a:tcPr/>
                </a:tc>
                <a:extLst>
                  <a:ext uri="{0D108BD9-81ED-4DB2-BD59-A6C34878D82A}">
                    <a16:rowId xmlns:a16="http://schemas.microsoft.com/office/drawing/2014/main" val="2881589244"/>
                  </a:ext>
                </a:extLst>
              </a:tr>
              <a:tr h="609600">
                <a:tc>
                  <a:txBody>
                    <a:bodyPr/>
                    <a:lstStyle/>
                    <a:p>
                      <a:r>
                        <a:rPr lang="en-US" dirty="0"/>
                        <a:t>Year</a:t>
                      </a:r>
                      <a:endParaRPr lang="en-IN" dirty="0"/>
                    </a:p>
                  </a:txBody>
                  <a:tcPr/>
                </a:tc>
                <a:tc>
                  <a:txBody>
                    <a:bodyPr/>
                    <a:lstStyle/>
                    <a:p>
                      <a:r>
                        <a:rPr lang="en-US" dirty="0"/>
                        <a:t>TYBCA</a:t>
                      </a:r>
                      <a:endParaRPr lang="en-IN" dirty="0"/>
                    </a:p>
                  </a:txBody>
                  <a:tcPr/>
                </a:tc>
                <a:extLst>
                  <a:ext uri="{0D108BD9-81ED-4DB2-BD59-A6C34878D82A}">
                    <a16:rowId xmlns:a16="http://schemas.microsoft.com/office/drawing/2014/main" val="3171936697"/>
                  </a:ext>
                </a:extLst>
              </a:tr>
            </a:tbl>
          </a:graphicData>
        </a:graphic>
      </p:graphicFrame>
      <p:graphicFrame>
        <p:nvGraphicFramePr>
          <p:cNvPr id="23" name="Table 22">
            <a:extLst>
              <a:ext uri="{FF2B5EF4-FFF2-40B4-BE49-F238E27FC236}">
                <a16:creationId xmlns:a16="http://schemas.microsoft.com/office/drawing/2014/main" id="{22937E09-926B-55CD-434F-27718946656A}"/>
              </a:ext>
            </a:extLst>
          </p:cNvPr>
          <p:cNvGraphicFramePr>
            <a:graphicFrameLocks noGrp="1"/>
          </p:cNvGraphicFramePr>
          <p:nvPr>
            <p:extLst>
              <p:ext uri="{D42A27DB-BD31-4B8C-83A1-F6EECF244321}">
                <p14:modId xmlns:p14="http://schemas.microsoft.com/office/powerpoint/2010/main" val="2749326338"/>
              </p:ext>
            </p:extLst>
          </p:nvPr>
        </p:nvGraphicFramePr>
        <p:xfrm>
          <a:off x="9909102" y="6152719"/>
          <a:ext cx="6858000" cy="3048000"/>
        </p:xfrm>
        <a:graphic>
          <a:graphicData uri="http://schemas.openxmlformats.org/drawingml/2006/table">
            <a:tbl>
              <a:tblPr firstRow="1" bandRow="1">
                <a:tableStyleId>{073A0DAA-6AF3-43AB-8588-CEC1D06C72B9}</a:tableStyleId>
              </a:tblPr>
              <a:tblGrid>
                <a:gridCol w="1917291">
                  <a:extLst>
                    <a:ext uri="{9D8B030D-6E8A-4147-A177-3AD203B41FA5}">
                      <a16:colId xmlns:a16="http://schemas.microsoft.com/office/drawing/2014/main" val="853701021"/>
                    </a:ext>
                  </a:extLst>
                </a:gridCol>
                <a:gridCol w="4940709">
                  <a:extLst>
                    <a:ext uri="{9D8B030D-6E8A-4147-A177-3AD203B41FA5}">
                      <a16:colId xmlns:a16="http://schemas.microsoft.com/office/drawing/2014/main" val="3519010096"/>
                    </a:ext>
                  </a:extLst>
                </a:gridCol>
              </a:tblGrid>
              <a:tr h="609600">
                <a:tc>
                  <a:txBody>
                    <a:bodyPr/>
                    <a:lstStyle/>
                    <a:p>
                      <a:r>
                        <a:rPr lang="en-US" dirty="0"/>
                        <a:t>Exam No</a:t>
                      </a:r>
                      <a:endParaRPr lang="en-IN" dirty="0"/>
                    </a:p>
                  </a:txBody>
                  <a:tcPr/>
                </a:tc>
                <a:tc>
                  <a:txBody>
                    <a:bodyPr/>
                    <a:lstStyle/>
                    <a:p>
                      <a:r>
                        <a:rPr lang="en-US" dirty="0"/>
                        <a:t>7919</a:t>
                      </a:r>
                      <a:endParaRPr lang="en-IN" dirty="0"/>
                    </a:p>
                  </a:txBody>
                  <a:tcPr/>
                </a:tc>
                <a:extLst>
                  <a:ext uri="{0D108BD9-81ED-4DB2-BD59-A6C34878D82A}">
                    <a16:rowId xmlns:a16="http://schemas.microsoft.com/office/drawing/2014/main" val="4055118055"/>
                  </a:ext>
                </a:extLst>
              </a:tr>
              <a:tr h="609600">
                <a:tc>
                  <a:txBody>
                    <a:bodyPr/>
                    <a:lstStyle/>
                    <a:p>
                      <a:r>
                        <a:rPr lang="en-US" dirty="0"/>
                        <a:t>Name</a:t>
                      </a:r>
                      <a:endParaRPr lang="en-IN" dirty="0"/>
                    </a:p>
                  </a:txBody>
                  <a:tcPr/>
                </a:tc>
                <a:tc>
                  <a:txBody>
                    <a:bodyPr/>
                    <a:lstStyle/>
                    <a:p>
                      <a:r>
                        <a:rPr lang="en-US" dirty="0"/>
                        <a:t>Vasava </a:t>
                      </a:r>
                      <a:r>
                        <a:rPr lang="en-US" dirty="0" err="1"/>
                        <a:t>Meetkumar</a:t>
                      </a:r>
                      <a:r>
                        <a:rPr lang="en-US" dirty="0"/>
                        <a:t> </a:t>
                      </a:r>
                      <a:r>
                        <a:rPr lang="en-US" dirty="0" err="1"/>
                        <a:t>Ravidasbhai</a:t>
                      </a:r>
                      <a:endParaRPr lang="en-IN" dirty="0"/>
                    </a:p>
                  </a:txBody>
                  <a:tcPr/>
                </a:tc>
                <a:extLst>
                  <a:ext uri="{0D108BD9-81ED-4DB2-BD59-A6C34878D82A}">
                    <a16:rowId xmlns:a16="http://schemas.microsoft.com/office/drawing/2014/main" val="3688174326"/>
                  </a:ext>
                </a:extLst>
              </a:tr>
              <a:tr h="609600">
                <a:tc>
                  <a:txBody>
                    <a:bodyPr/>
                    <a:lstStyle/>
                    <a:p>
                      <a:r>
                        <a:rPr lang="en-US" dirty="0"/>
                        <a:t>Roll no</a:t>
                      </a:r>
                      <a:endParaRPr lang="en-IN" dirty="0"/>
                    </a:p>
                  </a:txBody>
                  <a:tcPr/>
                </a:tc>
                <a:tc>
                  <a:txBody>
                    <a:bodyPr/>
                    <a:lstStyle/>
                    <a:p>
                      <a:r>
                        <a:rPr lang="en-US" dirty="0"/>
                        <a:t>394</a:t>
                      </a:r>
                      <a:endParaRPr lang="en-IN" dirty="0"/>
                    </a:p>
                  </a:txBody>
                  <a:tcPr/>
                </a:tc>
                <a:extLst>
                  <a:ext uri="{0D108BD9-81ED-4DB2-BD59-A6C34878D82A}">
                    <a16:rowId xmlns:a16="http://schemas.microsoft.com/office/drawing/2014/main" val="894190113"/>
                  </a:ext>
                </a:extLst>
              </a:tr>
              <a:tr h="609600">
                <a:tc>
                  <a:txBody>
                    <a:bodyPr/>
                    <a:lstStyle/>
                    <a:p>
                      <a:r>
                        <a:rPr lang="en-US" dirty="0"/>
                        <a:t>Division </a:t>
                      </a:r>
                      <a:endParaRPr lang="en-IN" dirty="0"/>
                    </a:p>
                  </a:txBody>
                  <a:tcPr/>
                </a:tc>
                <a:tc>
                  <a:txBody>
                    <a:bodyPr/>
                    <a:lstStyle/>
                    <a:p>
                      <a:r>
                        <a:rPr lang="en-US" dirty="0"/>
                        <a:t>D</a:t>
                      </a:r>
                      <a:endParaRPr lang="en-IN" dirty="0"/>
                    </a:p>
                  </a:txBody>
                  <a:tcPr/>
                </a:tc>
                <a:extLst>
                  <a:ext uri="{0D108BD9-81ED-4DB2-BD59-A6C34878D82A}">
                    <a16:rowId xmlns:a16="http://schemas.microsoft.com/office/drawing/2014/main" val="2881589244"/>
                  </a:ext>
                </a:extLst>
              </a:tr>
              <a:tr h="609600">
                <a:tc>
                  <a:txBody>
                    <a:bodyPr/>
                    <a:lstStyle/>
                    <a:p>
                      <a:r>
                        <a:rPr lang="en-US" dirty="0"/>
                        <a:t>Year</a:t>
                      </a:r>
                      <a:endParaRPr lang="en-IN" dirty="0"/>
                    </a:p>
                  </a:txBody>
                  <a:tcPr/>
                </a:tc>
                <a:tc>
                  <a:txBody>
                    <a:bodyPr/>
                    <a:lstStyle/>
                    <a:p>
                      <a:r>
                        <a:rPr lang="en-US" dirty="0"/>
                        <a:t>TYBCA</a:t>
                      </a:r>
                      <a:endParaRPr lang="en-IN" dirty="0"/>
                    </a:p>
                  </a:txBody>
                  <a:tcPr/>
                </a:tc>
                <a:extLst>
                  <a:ext uri="{0D108BD9-81ED-4DB2-BD59-A6C34878D82A}">
                    <a16:rowId xmlns:a16="http://schemas.microsoft.com/office/drawing/2014/main" val="317193669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4737628" y="2165218"/>
            <a:ext cx="8526422" cy="7767982"/>
          </a:xfrm>
          <a:custGeom>
            <a:avLst/>
            <a:gdLst/>
            <a:ahLst/>
            <a:cxnLst/>
            <a:rect l="l" t="t" r="r" b="b"/>
            <a:pathLst>
              <a:path w="8526422" h="7767982">
                <a:moveTo>
                  <a:pt x="0" y="0"/>
                </a:moveTo>
                <a:lnTo>
                  <a:pt x="8526422" y="0"/>
                </a:lnTo>
                <a:lnTo>
                  <a:pt x="8526422" y="7767982"/>
                </a:lnTo>
                <a:lnTo>
                  <a:pt x="0" y="7767982"/>
                </a:lnTo>
                <a:lnTo>
                  <a:pt x="0" y="0"/>
                </a:lnTo>
                <a:close/>
              </a:path>
            </a:pathLst>
          </a:custGeom>
          <a:blipFill>
            <a:blip r:embed="rId2"/>
            <a:stretch>
              <a:fillRect t="-2668" b="-7095"/>
            </a:stretch>
          </a:blipFill>
        </p:spPr>
      </p:sp>
      <p:grpSp>
        <p:nvGrpSpPr>
          <p:cNvPr id="3" name="Group 3"/>
          <p:cNvGrpSpPr/>
          <p:nvPr/>
        </p:nvGrpSpPr>
        <p:grpSpPr>
          <a:xfrm>
            <a:off x="2695999" y="723675"/>
            <a:ext cx="12896002" cy="1292071"/>
            <a:chOff x="0" y="0"/>
            <a:chExt cx="3396478" cy="340299"/>
          </a:xfrm>
        </p:grpSpPr>
        <p:sp>
          <p:nvSpPr>
            <p:cNvPr id="4" name="Freeform 4"/>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5" name="TextBox 5"/>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754199" y="383704"/>
            <a:ext cx="10779602"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Project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5" name="Freeform 5"/>
          <p:cNvSpPr/>
          <p:nvPr/>
        </p:nvSpPr>
        <p:spPr>
          <a:xfrm>
            <a:off x="-2518931" y="9258300"/>
            <a:ext cx="4966678" cy="4114800"/>
          </a:xfrm>
          <a:custGeom>
            <a:avLst/>
            <a:gdLst/>
            <a:ahLst/>
            <a:cxnLst/>
            <a:rect l="l" t="t" r="r" b="b"/>
            <a:pathLst>
              <a:path w="4966678" h="4114800">
                <a:moveTo>
                  <a:pt x="0" y="0"/>
                </a:moveTo>
                <a:lnTo>
                  <a:pt x="4966678" y="0"/>
                </a:lnTo>
                <a:lnTo>
                  <a:pt x="49666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354746" y="2224340"/>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Introduction</a:t>
            </a:r>
          </a:p>
        </p:txBody>
      </p:sp>
      <p:sp>
        <p:nvSpPr>
          <p:cNvPr id="8" name="Freeform 8"/>
          <p:cNvSpPr/>
          <p:nvPr/>
        </p:nvSpPr>
        <p:spPr>
          <a:xfrm flipH="1" flipV="1">
            <a:off x="15814186" y="-3086100"/>
            <a:ext cx="4966678" cy="4114800"/>
          </a:xfrm>
          <a:custGeom>
            <a:avLst/>
            <a:gdLst/>
            <a:ahLst/>
            <a:cxnLst/>
            <a:rect l="l" t="t" r="r" b="b"/>
            <a:pathLst>
              <a:path w="4966678" h="4114800">
                <a:moveTo>
                  <a:pt x="4966678" y="4114800"/>
                </a:moveTo>
                <a:lnTo>
                  <a:pt x="0" y="4114800"/>
                </a:lnTo>
                <a:lnTo>
                  <a:pt x="0" y="0"/>
                </a:lnTo>
                <a:lnTo>
                  <a:pt x="4966678" y="0"/>
                </a:lnTo>
                <a:lnTo>
                  <a:pt x="4966678"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4" name="Group 2">
            <a:extLst>
              <a:ext uri="{FF2B5EF4-FFF2-40B4-BE49-F238E27FC236}">
                <a16:creationId xmlns:a16="http://schemas.microsoft.com/office/drawing/2014/main" id="{5548B802-86DA-F58C-9E16-F83D9A571185}"/>
              </a:ext>
            </a:extLst>
          </p:cNvPr>
          <p:cNvGrpSpPr/>
          <p:nvPr/>
        </p:nvGrpSpPr>
        <p:grpSpPr>
          <a:xfrm>
            <a:off x="2695999" y="2564311"/>
            <a:ext cx="12896002" cy="1292071"/>
            <a:chOff x="0" y="0"/>
            <a:chExt cx="3396478" cy="340299"/>
          </a:xfrm>
        </p:grpSpPr>
        <p:sp>
          <p:nvSpPr>
            <p:cNvPr id="15" name="Freeform 3">
              <a:extLst>
                <a:ext uri="{FF2B5EF4-FFF2-40B4-BE49-F238E27FC236}">
                  <a16:creationId xmlns:a16="http://schemas.microsoft.com/office/drawing/2014/main" id="{A959B95E-710F-70D6-81A7-B4F34CD230A6}"/>
                </a:ext>
              </a:extLst>
            </p:cNvPr>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16" name="TextBox 4">
              <a:extLst>
                <a:ext uri="{FF2B5EF4-FFF2-40B4-BE49-F238E27FC236}">
                  <a16:creationId xmlns:a16="http://schemas.microsoft.com/office/drawing/2014/main" id="{5A7610C2-A31A-4AF5-589B-CA10CCFBC5E4}"/>
                </a:ext>
              </a:extLst>
            </p:cNvPr>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17" name="TextBox 6">
            <a:extLst>
              <a:ext uri="{FF2B5EF4-FFF2-40B4-BE49-F238E27FC236}">
                <a16:creationId xmlns:a16="http://schemas.microsoft.com/office/drawing/2014/main" id="{1E869D6E-25F8-4845-83E6-D7285934A224}"/>
              </a:ext>
            </a:extLst>
          </p:cNvPr>
          <p:cNvSpPr txBox="1"/>
          <p:nvPr/>
        </p:nvSpPr>
        <p:spPr>
          <a:xfrm>
            <a:off x="4354746" y="2224340"/>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Introduction</a:t>
            </a:r>
          </a:p>
        </p:txBody>
      </p:sp>
      <p:sp>
        <p:nvSpPr>
          <p:cNvPr id="18" name="TextBox 7">
            <a:extLst>
              <a:ext uri="{FF2B5EF4-FFF2-40B4-BE49-F238E27FC236}">
                <a16:creationId xmlns:a16="http://schemas.microsoft.com/office/drawing/2014/main" id="{94CB9AF9-4BEF-DF80-166E-2515041D35C4}"/>
              </a:ext>
            </a:extLst>
          </p:cNvPr>
          <p:cNvSpPr txBox="1"/>
          <p:nvPr/>
        </p:nvSpPr>
        <p:spPr>
          <a:xfrm>
            <a:off x="230924" y="4524682"/>
            <a:ext cx="17559507" cy="5732595"/>
          </a:xfrm>
          <a:prstGeom prst="rect">
            <a:avLst/>
          </a:prstGeom>
        </p:spPr>
        <p:txBody>
          <a:bodyPr lIns="0" tIns="0" rIns="0" bIns="0" rtlCol="0" anchor="t">
            <a:spAutoFit/>
          </a:bodyPr>
          <a:lstStyle/>
          <a:p>
            <a:pPr algn="ctr">
              <a:lnSpc>
                <a:spcPts val="4493"/>
              </a:lnSpc>
              <a:spcBef>
                <a:spcPct val="0"/>
              </a:spcBef>
            </a:pPr>
            <a:r>
              <a:rPr lang="en-US" sz="3209" dirty="0">
                <a:solidFill>
                  <a:srgbClr val="FAFAFA"/>
                </a:solidFill>
                <a:latin typeface="Century Gothic Paneuropean"/>
                <a:ea typeface="Century Gothic Paneuropean"/>
                <a:cs typeface="Century Gothic Paneuropean"/>
                <a:sym typeface="Century Gothic Paneuropean"/>
              </a:rPr>
              <a:t>The Smart hire job portal System is designed to overcome these challenges by using technology to make the process easier and faster. It is a web-based platform where both employers and job seekers can interact. Job seekers can create an account, build their profile, upload their resume, and apply for jobs that match their skills. Employers can register, post job openings, review candidate applications, and shortlist suitable candidates directly through the system.</a:t>
            </a:r>
          </a:p>
          <a:p>
            <a:pPr algn="ctr">
              <a:lnSpc>
                <a:spcPts val="4493"/>
              </a:lnSpc>
              <a:spcBef>
                <a:spcPct val="0"/>
              </a:spcBef>
            </a:pPr>
            <a:endParaRPr lang="en-US" sz="3209" dirty="0">
              <a:solidFill>
                <a:srgbClr val="FAFAFA"/>
              </a:solidFill>
              <a:latin typeface="Century Gothic Paneuropean"/>
              <a:ea typeface="Century Gothic Paneuropean"/>
              <a:cs typeface="Century Gothic Paneuropean"/>
              <a:sym typeface="Century Gothic Paneuropean"/>
            </a:endParaRPr>
          </a:p>
          <a:p>
            <a:pPr algn="ctr">
              <a:lnSpc>
                <a:spcPts val="4493"/>
              </a:lnSpc>
              <a:spcBef>
                <a:spcPct val="0"/>
              </a:spcBef>
            </a:pPr>
            <a:endParaRPr lang="en-US" sz="3209" dirty="0">
              <a:solidFill>
                <a:srgbClr val="FAFAFA"/>
              </a:solidFill>
              <a:latin typeface="Century Gothic Paneuropean"/>
              <a:ea typeface="Century Gothic Paneuropean"/>
              <a:cs typeface="Century Gothic Paneuropean"/>
              <a:sym typeface="Century Gothic Paneuropean"/>
            </a:endParaRPr>
          </a:p>
          <a:p>
            <a:pPr algn="ctr">
              <a:lnSpc>
                <a:spcPts val="4493"/>
              </a:lnSpc>
              <a:spcBef>
                <a:spcPct val="0"/>
              </a:spcBef>
            </a:pPr>
            <a:endParaRPr lang="en-US" sz="3209" dirty="0">
              <a:solidFill>
                <a:srgbClr val="FAFAFA"/>
              </a:solidFill>
              <a:latin typeface="Century Gothic Paneuropean"/>
              <a:ea typeface="Century Gothic Paneuropean"/>
              <a:cs typeface="Century Gothic Paneuropean"/>
              <a:sym typeface="Century Gothic Paneuropean"/>
            </a:endParaRPr>
          </a:p>
          <a:p>
            <a:pPr algn="ctr">
              <a:lnSpc>
                <a:spcPts val="4493"/>
              </a:lnSpc>
              <a:spcBef>
                <a:spcPct val="0"/>
              </a:spcBef>
            </a:pPr>
            <a:endParaRPr lang="en-US" sz="3209" dirty="0">
              <a:solidFill>
                <a:srgbClr val="FAFAFA"/>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5509949" y="6167220"/>
            <a:ext cx="2798064" cy="4114800"/>
          </a:xfrm>
          <a:custGeom>
            <a:avLst/>
            <a:gdLst/>
            <a:ahLst/>
            <a:cxnLst/>
            <a:rect l="l" t="t" r="r" b="b"/>
            <a:pathLst>
              <a:path w="2798064" h="4114800">
                <a:moveTo>
                  <a:pt x="0" y="0"/>
                </a:moveTo>
                <a:lnTo>
                  <a:pt x="2798064" y="0"/>
                </a:lnTo>
                <a:lnTo>
                  <a:pt x="27980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0" y="-259953"/>
            <a:ext cx="2798064" cy="4114800"/>
          </a:xfrm>
          <a:custGeom>
            <a:avLst/>
            <a:gdLst/>
            <a:ahLst/>
            <a:cxnLst/>
            <a:rect l="l" t="t" r="r" b="b"/>
            <a:pathLst>
              <a:path w="2798064" h="4114800">
                <a:moveTo>
                  <a:pt x="2798064" y="4114800"/>
                </a:moveTo>
                <a:lnTo>
                  <a:pt x="0" y="4114800"/>
                </a:lnTo>
                <a:lnTo>
                  <a:pt x="0" y="0"/>
                </a:lnTo>
                <a:lnTo>
                  <a:pt x="2798064" y="0"/>
                </a:lnTo>
                <a:lnTo>
                  <a:pt x="2798064"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3002772" y="505376"/>
            <a:ext cx="12896002" cy="1292071"/>
            <a:chOff x="0" y="0"/>
            <a:chExt cx="3396478" cy="340299"/>
          </a:xfrm>
        </p:grpSpPr>
        <p:sp>
          <p:nvSpPr>
            <p:cNvPr id="5" name="Freeform 5"/>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6" name="TextBox 6"/>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3854656" y="2158165"/>
            <a:ext cx="10067400" cy="7693229"/>
          </a:xfrm>
          <a:custGeom>
            <a:avLst/>
            <a:gdLst/>
            <a:ahLst/>
            <a:cxnLst/>
            <a:rect l="l" t="t" r="r" b="b"/>
            <a:pathLst>
              <a:path w="10067400" h="7693229">
                <a:moveTo>
                  <a:pt x="0" y="0"/>
                </a:moveTo>
                <a:lnTo>
                  <a:pt x="10067400" y="0"/>
                </a:lnTo>
                <a:lnTo>
                  <a:pt x="10067400" y="7693229"/>
                </a:lnTo>
                <a:lnTo>
                  <a:pt x="0" y="7693229"/>
                </a:lnTo>
                <a:lnTo>
                  <a:pt x="0" y="0"/>
                </a:lnTo>
                <a:close/>
              </a:path>
            </a:pathLst>
          </a:custGeom>
          <a:blipFill>
            <a:blip r:embed="rId4"/>
            <a:stretch>
              <a:fillRect l="-2501" t="-3091" r="-2537"/>
            </a:stretch>
          </a:blipFill>
        </p:spPr>
      </p:sp>
      <p:sp>
        <p:nvSpPr>
          <p:cNvPr id="8" name="TextBox 8"/>
          <p:cNvSpPr txBox="1"/>
          <p:nvPr/>
        </p:nvSpPr>
        <p:spPr>
          <a:xfrm>
            <a:off x="4170683" y="165405"/>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Work-Flow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4854259" y="9384387"/>
            <a:ext cx="3433741" cy="3613939"/>
          </a:xfrm>
          <a:custGeom>
            <a:avLst/>
            <a:gdLst/>
            <a:ahLst/>
            <a:cxnLst/>
            <a:rect l="l" t="t" r="r" b="b"/>
            <a:pathLst>
              <a:path w="3433741" h="3613939">
                <a:moveTo>
                  <a:pt x="0" y="0"/>
                </a:moveTo>
                <a:lnTo>
                  <a:pt x="3433741" y="0"/>
                </a:lnTo>
                <a:lnTo>
                  <a:pt x="3433741" y="3613938"/>
                </a:lnTo>
                <a:lnTo>
                  <a:pt x="0" y="3613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4257824"/>
            <a:ext cx="4967696" cy="5228394"/>
          </a:xfrm>
          <a:custGeom>
            <a:avLst/>
            <a:gdLst/>
            <a:ahLst/>
            <a:cxnLst/>
            <a:rect l="l" t="t" r="r" b="b"/>
            <a:pathLst>
              <a:path w="4967696" h="5228394">
                <a:moveTo>
                  <a:pt x="0" y="0"/>
                </a:moveTo>
                <a:lnTo>
                  <a:pt x="4967696" y="0"/>
                </a:lnTo>
                <a:lnTo>
                  <a:pt x="4967696" y="5228394"/>
                </a:lnTo>
                <a:lnTo>
                  <a:pt x="0" y="52283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5642541" y="77279"/>
            <a:ext cx="2645459" cy="3415699"/>
          </a:xfrm>
          <a:custGeom>
            <a:avLst/>
            <a:gdLst/>
            <a:ahLst/>
            <a:cxnLst/>
            <a:rect l="l" t="t" r="r" b="b"/>
            <a:pathLst>
              <a:path w="2645459" h="3415699">
                <a:moveTo>
                  <a:pt x="0" y="3415699"/>
                </a:moveTo>
                <a:lnTo>
                  <a:pt x="2645459" y="3415699"/>
                </a:lnTo>
                <a:lnTo>
                  <a:pt x="2645459" y="0"/>
                </a:lnTo>
                <a:lnTo>
                  <a:pt x="0" y="0"/>
                </a:lnTo>
                <a:lnTo>
                  <a:pt x="0" y="341569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0" y="6871301"/>
            <a:ext cx="2645459" cy="3415699"/>
          </a:xfrm>
          <a:custGeom>
            <a:avLst/>
            <a:gdLst/>
            <a:ahLst/>
            <a:cxnLst/>
            <a:rect l="l" t="t" r="r" b="b"/>
            <a:pathLst>
              <a:path w="2645459" h="3415699">
                <a:moveTo>
                  <a:pt x="2645459" y="0"/>
                </a:moveTo>
                <a:lnTo>
                  <a:pt x="0" y="0"/>
                </a:lnTo>
                <a:lnTo>
                  <a:pt x="0" y="3415699"/>
                </a:lnTo>
                <a:lnTo>
                  <a:pt x="2645459" y="3415699"/>
                </a:lnTo>
                <a:lnTo>
                  <a:pt x="2645459"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2746539" y="324534"/>
            <a:ext cx="12896002" cy="1292071"/>
            <a:chOff x="0" y="0"/>
            <a:chExt cx="3396478" cy="340299"/>
          </a:xfrm>
        </p:grpSpPr>
        <p:sp>
          <p:nvSpPr>
            <p:cNvPr id="7" name="Freeform 7"/>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8" name="TextBox 8"/>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3242576" y="1936685"/>
            <a:ext cx="11802848" cy="7640720"/>
          </a:xfrm>
          <a:custGeom>
            <a:avLst/>
            <a:gdLst/>
            <a:ahLst/>
            <a:cxnLst/>
            <a:rect l="l" t="t" r="r" b="b"/>
            <a:pathLst>
              <a:path w="11802848" h="7640720">
                <a:moveTo>
                  <a:pt x="0" y="0"/>
                </a:moveTo>
                <a:lnTo>
                  <a:pt x="11802848" y="0"/>
                </a:lnTo>
                <a:lnTo>
                  <a:pt x="11802848" y="7640721"/>
                </a:lnTo>
                <a:lnTo>
                  <a:pt x="0" y="7640721"/>
                </a:lnTo>
                <a:lnTo>
                  <a:pt x="0" y="0"/>
                </a:lnTo>
                <a:close/>
              </a:path>
            </a:pathLst>
          </a:custGeom>
          <a:blipFill>
            <a:blip r:embed="rId6"/>
            <a:stretch>
              <a:fillRect l="-385" t="-5073" r="-385"/>
            </a:stretch>
          </a:blipFill>
        </p:spPr>
      </p:sp>
      <p:sp>
        <p:nvSpPr>
          <p:cNvPr id="10" name="TextBox 10"/>
          <p:cNvSpPr txBox="1"/>
          <p:nvPr/>
        </p:nvSpPr>
        <p:spPr>
          <a:xfrm>
            <a:off x="6014707" y="3614"/>
            <a:ext cx="5726846"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Features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838581" y="7552086"/>
            <a:ext cx="3734563" cy="4114800"/>
          </a:xfrm>
          <a:custGeom>
            <a:avLst/>
            <a:gdLst/>
            <a:ahLst/>
            <a:cxnLst/>
            <a:rect l="l" t="t" r="r" b="b"/>
            <a:pathLst>
              <a:path w="3734563" h="4114800">
                <a:moveTo>
                  <a:pt x="0" y="0"/>
                </a:moveTo>
                <a:lnTo>
                  <a:pt x="3734562" y="0"/>
                </a:lnTo>
                <a:lnTo>
                  <a:pt x="3734562" y="4114800"/>
                </a:lnTo>
                <a:lnTo>
                  <a:pt x="0" y="4114800"/>
                </a:lnTo>
                <a:lnTo>
                  <a:pt x="0" y="0"/>
                </a:lnTo>
                <a:close/>
              </a:path>
            </a:pathLst>
          </a:custGeom>
          <a:blipFill>
            <a:blip r:embed="rId2">
              <a:alphaModFix amt="4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4806153" y="-1645542"/>
            <a:ext cx="3734563" cy="4114800"/>
          </a:xfrm>
          <a:custGeom>
            <a:avLst/>
            <a:gdLst/>
            <a:ahLst/>
            <a:cxnLst/>
            <a:rect l="l" t="t" r="r" b="b"/>
            <a:pathLst>
              <a:path w="3734563" h="4114800">
                <a:moveTo>
                  <a:pt x="0" y="0"/>
                </a:moveTo>
                <a:lnTo>
                  <a:pt x="3734563" y="0"/>
                </a:lnTo>
                <a:lnTo>
                  <a:pt x="3734563" y="4114800"/>
                </a:lnTo>
                <a:lnTo>
                  <a:pt x="0" y="4114800"/>
                </a:lnTo>
                <a:lnTo>
                  <a:pt x="0" y="0"/>
                </a:lnTo>
                <a:close/>
              </a:path>
            </a:pathLst>
          </a:custGeom>
          <a:blipFill>
            <a:blip r:embed="rId2">
              <a:alphaModFix amt="59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695999" y="382664"/>
            <a:ext cx="12896002" cy="1292071"/>
            <a:chOff x="0" y="0"/>
            <a:chExt cx="3396478" cy="340299"/>
          </a:xfrm>
        </p:grpSpPr>
        <p:sp>
          <p:nvSpPr>
            <p:cNvPr id="5" name="Freeform 5"/>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6" name="TextBox 6"/>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3310748" y="-106778"/>
            <a:ext cx="11666505"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Scope &amp; Planning</a:t>
            </a:r>
          </a:p>
        </p:txBody>
      </p:sp>
      <p:sp>
        <p:nvSpPr>
          <p:cNvPr id="8" name="TextBox 8"/>
          <p:cNvSpPr txBox="1"/>
          <p:nvPr/>
        </p:nvSpPr>
        <p:spPr>
          <a:xfrm>
            <a:off x="2895981" y="2691645"/>
            <a:ext cx="13626572" cy="6743492"/>
          </a:xfrm>
          <a:prstGeom prst="rect">
            <a:avLst/>
          </a:prstGeom>
        </p:spPr>
        <p:txBody>
          <a:bodyPr lIns="0" tIns="0" rIns="0" bIns="0" rtlCol="0" anchor="t">
            <a:spAutoFit/>
          </a:bodyPr>
          <a:lstStyle/>
          <a:p>
            <a:pPr algn="l">
              <a:lnSpc>
                <a:spcPts val="3575"/>
              </a:lnSpc>
            </a:pPr>
            <a:r>
              <a:rPr lang="en-US" sz="2553">
                <a:solidFill>
                  <a:srgbClr val="FAFAFA"/>
                </a:solidFill>
                <a:latin typeface="Century Gothic Paneuropean"/>
                <a:ea typeface="Century Gothic Paneuropean"/>
                <a:cs typeface="Century Gothic Paneuropean"/>
                <a:sym typeface="Century Gothic Paneuropean"/>
              </a:rPr>
              <a:t>    Scope:-</a:t>
            </a:r>
          </a:p>
          <a:p>
            <a:pPr algn="l">
              <a:lnSpc>
                <a:spcPts val="3575"/>
              </a:lnSpc>
            </a:pPr>
            <a:endParaRPr lang="en-US" sz="2553">
              <a:solidFill>
                <a:srgbClr val="FAFAFA"/>
              </a:solidFill>
              <a:latin typeface="Century Gothic Paneuropean"/>
              <a:ea typeface="Century Gothic Paneuropean"/>
              <a:cs typeface="Century Gothic Paneuropean"/>
              <a:sym typeface="Century Gothic Paneuropean"/>
            </a:endParaRP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Covers job posting, job searching, application tracking, and communication.</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Can be extended with AI-driven job recommendations, resume scoring, and video interviews.</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Useful for students, professionals, HR managers, and large companies.</a:t>
            </a:r>
          </a:p>
          <a:p>
            <a:pPr algn="l">
              <a:lnSpc>
                <a:spcPts val="3575"/>
              </a:lnSpc>
            </a:pPr>
            <a:endParaRPr lang="en-US" sz="2553">
              <a:solidFill>
                <a:srgbClr val="FAFAFA"/>
              </a:solidFill>
              <a:latin typeface="Century Gothic Paneuropean"/>
              <a:ea typeface="Century Gothic Paneuropean"/>
              <a:cs typeface="Century Gothic Paneuropean"/>
              <a:sym typeface="Century Gothic Paneuropean"/>
            </a:endParaRPr>
          </a:p>
          <a:p>
            <a:pPr algn="l">
              <a:lnSpc>
                <a:spcPts val="3575"/>
              </a:lnSpc>
            </a:pPr>
            <a:r>
              <a:rPr lang="en-US" sz="2553">
                <a:solidFill>
                  <a:srgbClr val="FAFAFA"/>
                </a:solidFill>
                <a:latin typeface="Century Gothic Paneuropean"/>
                <a:ea typeface="Century Gothic Paneuropean"/>
                <a:cs typeface="Century Gothic Paneuropean"/>
                <a:sym typeface="Century Gothic Paneuropean"/>
              </a:rPr>
              <a:t>     Planning:-</a:t>
            </a:r>
          </a:p>
          <a:p>
            <a:pPr algn="l">
              <a:lnSpc>
                <a:spcPts val="3575"/>
              </a:lnSpc>
            </a:pPr>
            <a:endParaRPr lang="en-US" sz="2553">
              <a:solidFill>
                <a:srgbClr val="FAFAFA"/>
              </a:solidFill>
              <a:latin typeface="Century Gothic Paneuropean"/>
              <a:ea typeface="Century Gothic Paneuropean"/>
              <a:cs typeface="Century Gothic Paneuropean"/>
              <a:sym typeface="Century Gothic Paneuropean"/>
            </a:endParaRP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1: Requirement gathering &amp; analysis.</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2: System design (database + front-end + back-end architecture).</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3: Development (module-wise: login, job posting, search, dashboards).</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4: Testing (unit testing, integration testing, usability testing).</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5: Deployment &amp; maintenance.</a:t>
            </a:r>
          </a:p>
          <a:p>
            <a:pPr marL="551351" lvl="1" indent="-275675" algn="l">
              <a:lnSpc>
                <a:spcPts val="3575"/>
              </a:lnSpc>
              <a:buFont typeface="Arial"/>
              <a:buChar char="•"/>
            </a:pPr>
            <a:endParaRPr lang="en-US" sz="2553">
              <a:solidFill>
                <a:srgbClr val="FAFAFA"/>
              </a:solidFill>
              <a:latin typeface="Century Gothic Paneuropean"/>
              <a:ea typeface="Century Gothic Paneuropean"/>
              <a:cs typeface="Century Gothic Paneuropean"/>
              <a:sym typeface="Century Gothic Paneuropean"/>
            </a:endParaRPr>
          </a:p>
        </p:txBody>
      </p:sp>
      <p:sp>
        <p:nvSpPr>
          <p:cNvPr id="9" name="Freeform 9"/>
          <p:cNvSpPr/>
          <p:nvPr/>
        </p:nvSpPr>
        <p:spPr>
          <a:xfrm>
            <a:off x="-2518931" y="9258300"/>
            <a:ext cx="4966678" cy="4114800"/>
          </a:xfrm>
          <a:custGeom>
            <a:avLst/>
            <a:gdLst/>
            <a:ahLst/>
            <a:cxnLst/>
            <a:rect l="l" t="t" r="r" b="b"/>
            <a:pathLst>
              <a:path w="4966678" h="4114800">
                <a:moveTo>
                  <a:pt x="0" y="0"/>
                </a:moveTo>
                <a:lnTo>
                  <a:pt x="4966678" y="0"/>
                </a:lnTo>
                <a:lnTo>
                  <a:pt x="496667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flipH="1" flipV="1">
            <a:off x="15814186" y="-3086100"/>
            <a:ext cx="4966678" cy="4114800"/>
          </a:xfrm>
          <a:custGeom>
            <a:avLst/>
            <a:gdLst/>
            <a:ahLst/>
            <a:cxnLst/>
            <a:rect l="l" t="t" r="r" b="b"/>
            <a:pathLst>
              <a:path w="4966678" h="4114800">
                <a:moveTo>
                  <a:pt x="4966678" y="4114800"/>
                </a:moveTo>
                <a:lnTo>
                  <a:pt x="0" y="4114800"/>
                </a:lnTo>
                <a:lnTo>
                  <a:pt x="0" y="0"/>
                </a:lnTo>
                <a:lnTo>
                  <a:pt x="4966678" y="0"/>
                </a:lnTo>
                <a:lnTo>
                  <a:pt x="4966678" y="411480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5509949" y="6167220"/>
            <a:ext cx="2798064" cy="4114800"/>
          </a:xfrm>
          <a:custGeom>
            <a:avLst/>
            <a:gdLst/>
            <a:ahLst/>
            <a:cxnLst/>
            <a:rect l="l" t="t" r="r" b="b"/>
            <a:pathLst>
              <a:path w="2798064" h="4114800">
                <a:moveTo>
                  <a:pt x="0" y="0"/>
                </a:moveTo>
                <a:lnTo>
                  <a:pt x="2798064" y="0"/>
                </a:lnTo>
                <a:lnTo>
                  <a:pt x="27980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0" y="-259953"/>
            <a:ext cx="2798064" cy="4114800"/>
          </a:xfrm>
          <a:custGeom>
            <a:avLst/>
            <a:gdLst/>
            <a:ahLst/>
            <a:cxnLst/>
            <a:rect l="l" t="t" r="r" b="b"/>
            <a:pathLst>
              <a:path w="2798064" h="4114800">
                <a:moveTo>
                  <a:pt x="2798064" y="4114800"/>
                </a:moveTo>
                <a:lnTo>
                  <a:pt x="0" y="4114800"/>
                </a:lnTo>
                <a:lnTo>
                  <a:pt x="0" y="0"/>
                </a:lnTo>
                <a:lnTo>
                  <a:pt x="2798064" y="0"/>
                </a:lnTo>
                <a:lnTo>
                  <a:pt x="2798064"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798064" y="703224"/>
            <a:ext cx="14461236" cy="1292071"/>
            <a:chOff x="0" y="0"/>
            <a:chExt cx="3808721" cy="340299"/>
          </a:xfrm>
        </p:grpSpPr>
        <p:sp>
          <p:nvSpPr>
            <p:cNvPr id="5" name="Freeform 5"/>
            <p:cNvSpPr/>
            <p:nvPr/>
          </p:nvSpPr>
          <p:spPr>
            <a:xfrm>
              <a:off x="0" y="0"/>
              <a:ext cx="3808721" cy="340299"/>
            </a:xfrm>
            <a:custGeom>
              <a:avLst/>
              <a:gdLst/>
              <a:ahLst/>
              <a:cxnLst/>
              <a:rect l="l" t="t" r="r" b="b"/>
              <a:pathLst>
                <a:path w="3808721" h="340299">
                  <a:moveTo>
                    <a:pt x="53536" y="0"/>
                  </a:moveTo>
                  <a:lnTo>
                    <a:pt x="3755185" y="0"/>
                  </a:lnTo>
                  <a:cubicBezTo>
                    <a:pt x="3784752" y="0"/>
                    <a:pt x="3808721" y="23969"/>
                    <a:pt x="3808721" y="53536"/>
                  </a:cubicBezTo>
                  <a:lnTo>
                    <a:pt x="3808721" y="286763"/>
                  </a:lnTo>
                  <a:cubicBezTo>
                    <a:pt x="3808721" y="300961"/>
                    <a:pt x="3803080" y="314578"/>
                    <a:pt x="3793041" y="324618"/>
                  </a:cubicBezTo>
                  <a:cubicBezTo>
                    <a:pt x="3783000" y="334658"/>
                    <a:pt x="3769383" y="340299"/>
                    <a:pt x="3755185" y="340299"/>
                  </a:cubicBezTo>
                  <a:lnTo>
                    <a:pt x="53536" y="340299"/>
                  </a:lnTo>
                  <a:cubicBezTo>
                    <a:pt x="39337" y="340299"/>
                    <a:pt x="25720" y="334658"/>
                    <a:pt x="15680" y="324618"/>
                  </a:cubicBezTo>
                  <a:cubicBezTo>
                    <a:pt x="5640" y="314578"/>
                    <a:pt x="0" y="300961"/>
                    <a:pt x="0" y="286763"/>
                  </a:cubicBezTo>
                  <a:lnTo>
                    <a:pt x="0" y="53536"/>
                  </a:lnTo>
                  <a:cubicBezTo>
                    <a:pt x="0" y="39337"/>
                    <a:pt x="5640" y="25720"/>
                    <a:pt x="15680" y="15680"/>
                  </a:cubicBezTo>
                  <a:cubicBezTo>
                    <a:pt x="25720" y="5640"/>
                    <a:pt x="39337" y="0"/>
                    <a:pt x="53536" y="0"/>
                  </a:cubicBezTo>
                  <a:close/>
                </a:path>
              </a:pathLst>
            </a:custGeom>
            <a:solidFill>
              <a:srgbClr val="FAFAFA"/>
            </a:solidFill>
          </p:spPr>
        </p:sp>
        <p:sp>
          <p:nvSpPr>
            <p:cNvPr id="6" name="TextBox 6"/>
            <p:cNvSpPr txBox="1"/>
            <p:nvPr/>
          </p:nvSpPr>
          <p:spPr>
            <a:xfrm>
              <a:off x="0" y="-85725"/>
              <a:ext cx="3808721" cy="42602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1734540" y="3165780"/>
            <a:ext cx="15174441" cy="5263355"/>
          </a:xfrm>
          <a:custGeom>
            <a:avLst/>
            <a:gdLst/>
            <a:ahLst/>
            <a:cxnLst/>
            <a:rect l="l" t="t" r="r" b="b"/>
            <a:pathLst>
              <a:path w="15174441" h="5263355">
                <a:moveTo>
                  <a:pt x="0" y="0"/>
                </a:moveTo>
                <a:lnTo>
                  <a:pt x="15174441" y="0"/>
                </a:lnTo>
                <a:lnTo>
                  <a:pt x="15174441" y="5263355"/>
                </a:lnTo>
                <a:lnTo>
                  <a:pt x="0" y="5263355"/>
                </a:lnTo>
                <a:lnTo>
                  <a:pt x="0" y="0"/>
                </a:lnTo>
                <a:close/>
              </a:path>
            </a:pathLst>
          </a:custGeom>
          <a:blipFill>
            <a:blip r:embed="rId4"/>
            <a:stretch>
              <a:fillRect l="-756" t="-2432" r="-756"/>
            </a:stretch>
          </a:blipFill>
        </p:spPr>
      </p:sp>
      <p:sp>
        <p:nvSpPr>
          <p:cNvPr id="8" name="TextBox 8"/>
          <p:cNvSpPr txBox="1"/>
          <p:nvPr/>
        </p:nvSpPr>
        <p:spPr>
          <a:xfrm>
            <a:off x="3495783" y="363252"/>
            <a:ext cx="12640690"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Design Technologies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4854259" y="9384387"/>
            <a:ext cx="3433741" cy="3613939"/>
          </a:xfrm>
          <a:custGeom>
            <a:avLst/>
            <a:gdLst/>
            <a:ahLst/>
            <a:cxnLst/>
            <a:rect l="l" t="t" r="r" b="b"/>
            <a:pathLst>
              <a:path w="3433741" h="3613939">
                <a:moveTo>
                  <a:pt x="0" y="0"/>
                </a:moveTo>
                <a:lnTo>
                  <a:pt x="3433741" y="0"/>
                </a:lnTo>
                <a:lnTo>
                  <a:pt x="3433741" y="3613938"/>
                </a:lnTo>
                <a:lnTo>
                  <a:pt x="0" y="3613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4257824"/>
            <a:ext cx="4967696" cy="5228394"/>
          </a:xfrm>
          <a:custGeom>
            <a:avLst/>
            <a:gdLst/>
            <a:ahLst/>
            <a:cxnLst/>
            <a:rect l="l" t="t" r="r" b="b"/>
            <a:pathLst>
              <a:path w="4967696" h="5228394">
                <a:moveTo>
                  <a:pt x="0" y="0"/>
                </a:moveTo>
                <a:lnTo>
                  <a:pt x="4967696" y="0"/>
                </a:lnTo>
                <a:lnTo>
                  <a:pt x="4967696" y="5228394"/>
                </a:lnTo>
                <a:lnTo>
                  <a:pt x="0" y="52283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5642541" y="77279"/>
            <a:ext cx="2645459" cy="3415699"/>
          </a:xfrm>
          <a:custGeom>
            <a:avLst/>
            <a:gdLst/>
            <a:ahLst/>
            <a:cxnLst/>
            <a:rect l="l" t="t" r="r" b="b"/>
            <a:pathLst>
              <a:path w="2645459" h="3415699">
                <a:moveTo>
                  <a:pt x="0" y="3415699"/>
                </a:moveTo>
                <a:lnTo>
                  <a:pt x="2645459" y="3415699"/>
                </a:lnTo>
                <a:lnTo>
                  <a:pt x="2645459" y="0"/>
                </a:lnTo>
                <a:lnTo>
                  <a:pt x="0" y="0"/>
                </a:lnTo>
                <a:lnTo>
                  <a:pt x="0" y="341569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0" y="6871301"/>
            <a:ext cx="2645459" cy="3415699"/>
          </a:xfrm>
          <a:custGeom>
            <a:avLst/>
            <a:gdLst/>
            <a:ahLst/>
            <a:cxnLst/>
            <a:rect l="l" t="t" r="r" b="b"/>
            <a:pathLst>
              <a:path w="2645459" h="3415699">
                <a:moveTo>
                  <a:pt x="2645459" y="0"/>
                </a:moveTo>
                <a:lnTo>
                  <a:pt x="0" y="0"/>
                </a:lnTo>
                <a:lnTo>
                  <a:pt x="0" y="3415699"/>
                </a:lnTo>
                <a:lnTo>
                  <a:pt x="2645459" y="3415699"/>
                </a:lnTo>
                <a:lnTo>
                  <a:pt x="2645459"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2746539" y="382664"/>
            <a:ext cx="12896002" cy="1292071"/>
            <a:chOff x="0" y="0"/>
            <a:chExt cx="3396478" cy="340299"/>
          </a:xfrm>
        </p:grpSpPr>
        <p:sp>
          <p:nvSpPr>
            <p:cNvPr id="7" name="Freeform 7"/>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8" name="TextBox 8"/>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2746539" y="2597723"/>
            <a:ext cx="12505685" cy="6660577"/>
          </a:xfrm>
          <a:custGeom>
            <a:avLst/>
            <a:gdLst/>
            <a:ahLst/>
            <a:cxnLst/>
            <a:rect l="l" t="t" r="r" b="b"/>
            <a:pathLst>
              <a:path w="12505685" h="6660577">
                <a:moveTo>
                  <a:pt x="0" y="0"/>
                </a:moveTo>
                <a:lnTo>
                  <a:pt x="12505685" y="0"/>
                </a:lnTo>
                <a:lnTo>
                  <a:pt x="12505685" y="6660577"/>
                </a:lnTo>
                <a:lnTo>
                  <a:pt x="0" y="6660577"/>
                </a:lnTo>
                <a:lnTo>
                  <a:pt x="0" y="0"/>
                </a:lnTo>
                <a:close/>
              </a:path>
            </a:pathLst>
          </a:custGeom>
          <a:blipFill>
            <a:blip r:embed="rId6"/>
            <a:stretch>
              <a:fillRect t="-6810" b="-10068"/>
            </a:stretch>
          </a:blipFill>
        </p:spPr>
      </p:sp>
      <p:sp>
        <p:nvSpPr>
          <p:cNvPr id="10" name="TextBox 10"/>
          <p:cNvSpPr txBox="1"/>
          <p:nvPr/>
        </p:nvSpPr>
        <p:spPr>
          <a:xfrm>
            <a:off x="3467878" y="-15437"/>
            <a:ext cx="11352244"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Database Diagram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2518931" y="9258300"/>
            <a:ext cx="4966678" cy="4114800"/>
          </a:xfrm>
          <a:custGeom>
            <a:avLst/>
            <a:gdLst/>
            <a:ahLst/>
            <a:cxnLst/>
            <a:rect l="l" t="t" r="r" b="b"/>
            <a:pathLst>
              <a:path w="4966678" h="4114800">
                <a:moveTo>
                  <a:pt x="0" y="0"/>
                </a:moveTo>
                <a:lnTo>
                  <a:pt x="4966678" y="0"/>
                </a:lnTo>
                <a:lnTo>
                  <a:pt x="49666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814186" y="-3086100"/>
            <a:ext cx="4966678" cy="4114800"/>
          </a:xfrm>
          <a:custGeom>
            <a:avLst/>
            <a:gdLst/>
            <a:ahLst/>
            <a:cxnLst/>
            <a:rect l="l" t="t" r="r" b="b"/>
            <a:pathLst>
              <a:path w="4966678" h="4114800">
                <a:moveTo>
                  <a:pt x="4966678" y="4114800"/>
                </a:moveTo>
                <a:lnTo>
                  <a:pt x="0" y="4114800"/>
                </a:lnTo>
                <a:lnTo>
                  <a:pt x="0" y="0"/>
                </a:lnTo>
                <a:lnTo>
                  <a:pt x="4966678" y="0"/>
                </a:lnTo>
                <a:lnTo>
                  <a:pt x="4966678"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3020451" y="382664"/>
            <a:ext cx="12896002" cy="1292071"/>
            <a:chOff x="0" y="0"/>
            <a:chExt cx="3396478" cy="340299"/>
          </a:xfrm>
        </p:grpSpPr>
        <p:sp>
          <p:nvSpPr>
            <p:cNvPr id="5" name="Freeform 5"/>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6" name="TextBox 6"/>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1028700" y="2449120"/>
            <a:ext cx="6995152" cy="6102461"/>
          </a:xfrm>
          <a:custGeom>
            <a:avLst/>
            <a:gdLst/>
            <a:ahLst/>
            <a:cxnLst/>
            <a:rect l="l" t="t" r="r" b="b"/>
            <a:pathLst>
              <a:path w="6995152" h="6102461">
                <a:moveTo>
                  <a:pt x="0" y="0"/>
                </a:moveTo>
                <a:lnTo>
                  <a:pt x="6995152" y="0"/>
                </a:lnTo>
                <a:lnTo>
                  <a:pt x="6995152" y="6102461"/>
                </a:lnTo>
                <a:lnTo>
                  <a:pt x="0" y="6102461"/>
                </a:lnTo>
                <a:lnTo>
                  <a:pt x="0" y="0"/>
                </a:lnTo>
                <a:close/>
              </a:path>
            </a:pathLst>
          </a:custGeom>
          <a:blipFill>
            <a:blip r:embed="rId4"/>
            <a:stretch>
              <a:fillRect l="-679" r="-679"/>
            </a:stretch>
          </a:blipFill>
        </p:spPr>
      </p:sp>
      <p:sp>
        <p:nvSpPr>
          <p:cNvPr id="8" name="Freeform 8"/>
          <p:cNvSpPr/>
          <p:nvPr/>
        </p:nvSpPr>
        <p:spPr>
          <a:xfrm>
            <a:off x="9144000" y="2526647"/>
            <a:ext cx="6936959" cy="5947407"/>
          </a:xfrm>
          <a:custGeom>
            <a:avLst/>
            <a:gdLst/>
            <a:ahLst/>
            <a:cxnLst/>
            <a:rect l="l" t="t" r="r" b="b"/>
            <a:pathLst>
              <a:path w="6936959" h="5947407">
                <a:moveTo>
                  <a:pt x="0" y="0"/>
                </a:moveTo>
                <a:lnTo>
                  <a:pt x="6936959" y="0"/>
                </a:lnTo>
                <a:lnTo>
                  <a:pt x="6936959" y="5947407"/>
                </a:lnTo>
                <a:lnTo>
                  <a:pt x="0" y="5947407"/>
                </a:lnTo>
                <a:lnTo>
                  <a:pt x="0" y="0"/>
                </a:lnTo>
                <a:close/>
              </a:path>
            </a:pathLst>
          </a:custGeom>
          <a:blipFill>
            <a:blip r:embed="rId5"/>
            <a:stretch>
              <a:fillRect/>
            </a:stretch>
          </a:blipFill>
        </p:spPr>
      </p:sp>
      <p:sp>
        <p:nvSpPr>
          <p:cNvPr id="9" name="TextBox 9"/>
          <p:cNvSpPr txBox="1"/>
          <p:nvPr/>
        </p:nvSpPr>
        <p:spPr>
          <a:xfrm>
            <a:off x="4354746" y="42693"/>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User Interface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5509949" y="6167220"/>
            <a:ext cx="2798064" cy="4114800"/>
          </a:xfrm>
          <a:custGeom>
            <a:avLst/>
            <a:gdLst/>
            <a:ahLst/>
            <a:cxnLst/>
            <a:rect l="l" t="t" r="r" b="b"/>
            <a:pathLst>
              <a:path w="2798064" h="4114800">
                <a:moveTo>
                  <a:pt x="0" y="0"/>
                </a:moveTo>
                <a:lnTo>
                  <a:pt x="2798064" y="0"/>
                </a:lnTo>
                <a:lnTo>
                  <a:pt x="27980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0" y="-259953"/>
            <a:ext cx="2798064" cy="4114800"/>
          </a:xfrm>
          <a:custGeom>
            <a:avLst/>
            <a:gdLst/>
            <a:ahLst/>
            <a:cxnLst/>
            <a:rect l="l" t="t" r="r" b="b"/>
            <a:pathLst>
              <a:path w="2798064" h="4114800">
                <a:moveTo>
                  <a:pt x="2798064" y="4114800"/>
                </a:moveTo>
                <a:lnTo>
                  <a:pt x="0" y="4114800"/>
                </a:lnTo>
                <a:lnTo>
                  <a:pt x="0" y="0"/>
                </a:lnTo>
                <a:lnTo>
                  <a:pt x="2798064" y="0"/>
                </a:lnTo>
                <a:lnTo>
                  <a:pt x="2798064"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695999" y="382664"/>
            <a:ext cx="12896002" cy="1292071"/>
            <a:chOff x="0" y="0"/>
            <a:chExt cx="3396478" cy="340299"/>
          </a:xfrm>
        </p:grpSpPr>
        <p:sp>
          <p:nvSpPr>
            <p:cNvPr id="5" name="Freeform 5"/>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6" name="TextBox 6"/>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3904813" y="15933"/>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Testing</a:t>
            </a:r>
          </a:p>
        </p:txBody>
      </p:sp>
      <p:sp>
        <p:nvSpPr>
          <p:cNvPr id="8" name="TextBox 8"/>
          <p:cNvSpPr txBox="1"/>
          <p:nvPr/>
        </p:nvSpPr>
        <p:spPr>
          <a:xfrm>
            <a:off x="1674769" y="2487606"/>
            <a:ext cx="14938462" cy="5322394"/>
          </a:xfrm>
          <a:prstGeom prst="rect">
            <a:avLst/>
          </a:prstGeom>
        </p:spPr>
        <p:txBody>
          <a:bodyPr lIns="0" tIns="0" rIns="0" bIns="0" rtlCol="0" anchor="t">
            <a:spAutoFit/>
          </a:bodyPr>
          <a:lstStyle/>
          <a:p>
            <a:pPr algn="ctr">
              <a:lnSpc>
                <a:spcPts val="3049"/>
              </a:lnSpc>
              <a:spcBef>
                <a:spcPct val="0"/>
              </a:spcBef>
            </a:pPr>
            <a:r>
              <a:rPr lang="en-US" sz="2178">
                <a:solidFill>
                  <a:srgbClr val="FAFAFA"/>
                </a:solidFill>
                <a:latin typeface="Century Gothic Paneuropean"/>
                <a:ea typeface="Century Gothic Paneuropean"/>
                <a:cs typeface="Century Gothic Paneuropean"/>
                <a:sym typeface="Century Gothic Paneuropean"/>
              </a:rPr>
              <a:t>      Unit Testing:        Each individual module, like the login feature, job application submission, or a user's profile creation, is tested in isolation to ensure it functions correctly on its own.</a:t>
            </a:r>
          </a:p>
          <a:p>
            <a:pPr algn="ctr">
              <a:lnSpc>
                <a:spcPts val="3049"/>
              </a:lnSpc>
              <a:spcBef>
                <a:spcPct val="0"/>
              </a:spcBef>
            </a:pPr>
            <a:endParaRPr lang="en-US" sz="2178">
              <a:solidFill>
                <a:srgbClr val="FAFAFA"/>
              </a:solidFill>
              <a:latin typeface="Century Gothic Paneuropean"/>
              <a:ea typeface="Century Gothic Paneuropean"/>
              <a:cs typeface="Century Gothic Paneuropean"/>
              <a:sym typeface="Century Gothic Paneuropean"/>
            </a:endParaRPr>
          </a:p>
          <a:p>
            <a:pPr algn="ctr">
              <a:lnSpc>
                <a:spcPts val="3049"/>
              </a:lnSpc>
              <a:spcBef>
                <a:spcPct val="0"/>
              </a:spcBef>
            </a:pPr>
            <a:r>
              <a:rPr lang="en-US" sz="2178">
                <a:solidFill>
                  <a:srgbClr val="FAFAFA"/>
                </a:solidFill>
                <a:latin typeface="Century Gothic Paneuropean"/>
                <a:ea typeface="Century Gothic Paneuropean"/>
                <a:cs typeface="Century Gothic Paneuropean"/>
                <a:sym typeface="Century Gothic Paneuropean"/>
              </a:rPr>
              <a:t> Integration Testing:  This testing ensures that different modules work together smoothly.</a:t>
            </a:r>
          </a:p>
          <a:p>
            <a:pPr algn="ctr">
              <a:lnSpc>
                <a:spcPts val="3049"/>
              </a:lnSpc>
              <a:spcBef>
                <a:spcPct val="0"/>
              </a:spcBef>
            </a:pPr>
            <a:endParaRPr lang="en-US" sz="2178">
              <a:solidFill>
                <a:srgbClr val="FAFAFA"/>
              </a:solidFill>
              <a:latin typeface="Century Gothic Paneuropean"/>
              <a:ea typeface="Century Gothic Paneuropean"/>
              <a:cs typeface="Century Gothic Paneuropean"/>
              <a:sym typeface="Century Gothic Paneuropean"/>
            </a:endParaRPr>
          </a:p>
          <a:p>
            <a:pPr marL="470281" lvl="1" indent="-235140" algn="ctr">
              <a:lnSpc>
                <a:spcPts val="3049"/>
              </a:lnSpc>
              <a:spcBef>
                <a:spcPct val="0"/>
              </a:spcBef>
              <a:buFont typeface="Arial"/>
              <a:buChar char="•"/>
            </a:pPr>
            <a:r>
              <a:rPr lang="en-US" sz="2178">
                <a:solidFill>
                  <a:srgbClr val="FAFAFA"/>
                </a:solidFill>
                <a:latin typeface="Century Gothic Paneuropean"/>
                <a:ea typeface="Century Gothic Paneuropean"/>
                <a:cs typeface="Century Gothic Paneuropean"/>
                <a:sym typeface="Century Gothic Paneuropean"/>
              </a:rPr>
              <a:t>Usability Testing:    This focuses on the user experience. It checks how easy it is for both recruiters to post jobs and for job seekers to navigate the site and find relevant opportunities.</a:t>
            </a:r>
          </a:p>
          <a:p>
            <a:pPr marL="470281" lvl="1" indent="-235140" algn="ctr">
              <a:lnSpc>
                <a:spcPts val="3049"/>
              </a:lnSpc>
              <a:spcBef>
                <a:spcPct val="0"/>
              </a:spcBef>
              <a:buFont typeface="Arial"/>
              <a:buChar char="•"/>
            </a:pPr>
            <a:endParaRPr lang="en-US" sz="2178">
              <a:solidFill>
                <a:srgbClr val="FAFAFA"/>
              </a:solidFill>
              <a:latin typeface="Century Gothic Paneuropean"/>
              <a:ea typeface="Century Gothic Paneuropean"/>
              <a:cs typeface="Century Gothic Paneuropean"/>
              <a:sym typeface="Century Gothic Paneuropean"/>
            </a:endParaRPr>
          </a:p>
          <a:p>
            <a:pPr marL="470281" lvl="1" indent="-235140" algn="ctr">
              <a:lnSpc>
                <a:spcPts val="3049"/>
              </a:lnSpc>
              <a:spcBef>
                <a:spcPct val="0"/>
              </a:spcBef>
              <a:buFont typeface="Arial"/>
              <a:buChar char="•"/>
            </a:pPr>
            <a:r>
              <a:rPr lang="en-US" sz="2178">
                <a:solidFill>
                  <a:srgbClr val="FAFAFA"/>
                </a:solidFill>
                <a:latin typeface="Century Gothic Paneuropean"/>
                <a:ea typeface="Century Gothic Paneuropean"/>
                <a:cs typeface="Century Gothic Paneuropean"/>
                <a:sym typeface="Century Gothic Paneuropean"/>
              </a:rPr>
              <a:t>Performance Testing:    This ensures the platform can handle heavy usage. It tests the system's stability when multiple users are searching for jobs or uploading resumes at the same time, especially during peak hours.</a:t>
            </a:r>
          </a:p>
          <a:p>
            <a:pPr marL="470281" lvl="1" indent="-235140" algn="ctr">
              <a:lnSpc>
                <a:spcPts val="3049"/>
              </a:lnSpc>
              <a:spcBef>
                <a:spcPct val="0"/>
              </a:spcBef>
              <a:buFont typeface="Arial"/>
              <a:buChar char="•"/>
            </a:pPr>
            <a:endParaRPr lang="en-US" sz="2178">
              <a:solidFill>
                <a:srgbClr val="FAFAFA"/>
              </a:solidFill>
              <a:latin typeface="Century Gothic Paneuropean"/>
              <a:ea typeface="Century Gothic Paneuropean"/>
              <a:cs typeface="Century Gothic Paneuropean"/>
              <a:sym typeface="Century Gothic Paneuropean"/>
            </a:endParaRPr>
          </a:p>
          <a:p>
            <a:pPr marL="470281" lvl="1" indent="-235140" algn="ctr">
              <a:lnSpc>
                <a:spcPts val="3049"/>
              </a:lnSpc>
              <a:spcBef>
                <a:spcPct val="0"/>
              </a:spcBef>
              <a:buFont typeface="Arial"/>
              <a:buChar char="•"/>
            </a:pPr>
            <a:r>
              <a:rPr lang="en-US" sz="2178">
                <a:solidFill>
                  <a:srgbClr val="FAFAFA"/>
                </a:solidFill>
                <a:latin typeface="Century Gothic Paneuropean"/>
                <a:ea typeface="Century Gothic Paneuropean"/>
                <a:cs typeface="Century Gothic Paneuropean"/>
                <a:sym typeface="Century Gothic Paneuropean"/>
              </a:rPr>
              <a:t>Security Testing:    This is crucial for protecting sensitive data. It ensures that user data, such as resumes and personal information, is secure and that unauthorized users cannot access or alter it.</a:t>
            </a:r>
          </a:p>
          <a:p>
            <a:pPr algn="ctr">
              <a:lnSpc>
                <a:spcPts val="3049"/>
              </a:lnSpc>
              <a:spcBef>
                <a:spcPct val="0"/>
              </a:spcBef>
            </a:pPr>
            <a:endParaRPr lang="en-US" sz="2178">
              <a:solidFill>
                <a:srgbClr val="FAFAFA"/>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grpSp>
        <p:nvGrpSpPr>
          <p:cNvPr id="2" name="Group 2"/>
          <p:cNvGrpSpPr/>
          <p:nvPr/>
        </p:nvGrpSpPr>
        <p:grpSpPr>
          <a:xfrm>
            <a:off x="2695999" y="382664"/>
            <a:ext cx="12896002" cy="1292071"/>
            <a:chOff x="0" y="0"/>
            <a:chExt cx="3396478" cy="340299"/>
          </a:xfrm>
        </p:grpSpPr>
        <p:sp>
          <p:nvSpPr>
            <p:cNvPr id="3" name="Freeform 3"/>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4" name="TextBox 4"/>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3904813" y="15933"/>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Conclution</a:t>
            </a:r>
          </a:p>
        </p:txBody>
      </p:sp>
      <p:grpSp>
        <p:nvGrpSpPr>
          <p:cNvPr id="6" name="Group 6"/>
          <p:cNvGrpSpPr/>
          <p:nvPr/>
        </p:nvGrpSpPr>
        <p:grpSpPr>
          <a:xfrm>
            <a:off x="443560" y="1942556"/>
            <a:ext cx="17149917" cy="7918362"/>
            <a:chOff x="0" y="0"/>
            <a:chExt cx="4516851" cy="2085494"/>
          </a:xfrm>
        </p:grpSpPr>
        <p:sp>
          <p:nvSpPr>
            <p:cNvPr id="7" name="Freeform 7"/>
            <p:cNvSpPr/>
            <p:nvPr/>
          </p:nvSpPr>
          <p:spPr>
            <a:xfrm>
              <a:off x="0" y="0"/>
              <a:ext cx="4516851" cy="2085494"/>
            </a:xfrm>
            <a:custGeom>
              <a:avLst/>
              <a:gdLst/>
              <a:ahLst/>
              <a:cxnLst/>
              <a:rect l="l" t="t" r="r" b="b"/>
              <a:pathLst>
                <a:path w="4516851" h="2085494">
                  <a:moveTo>
                    <a:pt x="45143" y="0"/>
                  </a:moveTo>
                  <a:lnTo>
                    <a:pt x="4471708" y="0"/>
                  </a:lnTo>
                  <a:cubicBezTo>
                    <a:pt x="4496639" y="0"/>
                    <a:pt x="4516851" y="20211"/>
                    <a:pt x="4516851" y="45143"/>
                  </a:cubicBezTo>
                  <a:lnTo>
                    <a:pt x="4516851" y="2040352"/>
                  </a:lnTo>
                  <a:cubicBezTo>
                    <a:pt x="4516851" y="2065283"/>
                    <a:pt x="4496639" y="2085494"/>
                    <a:pt x="4471708" y="2085494"/>
                  </a:cubicBezTo>
                  <a:lnTo>
                    <a:pt x="45143" y="2085494"/>
                  </a:lnTo>
                  <a:cubicBezTo>
                    <a:pt x="20211" y="2085494"/>
                    <a:pt x="0" y="2065283"/>
                    <a:pt x="0" y="2040352"/>
                  </a:cubicBezTo>
                  <a:lnTo>
                    <a:pt x="0" y="45143"/>
                  </a:lnTo>
                  <a:cubicBezTo>
                    <a:pt x="0" y="20211"/>
                    <a:pt x="20211" y="0"/>
                    <a:pt x="45143" y="0"/>
                  </a:cubicBezTo>
                  <a:close/>
                </a:path>
              </a:pathLst>
            </a:custGeom>
            <a:solidFill>
              <a:srgbClr val="FAFAFA"/>
            </a:solidFill>
          </p:spPr>
        </p:sp>
        <p:sp>
          <p:nvSpPr>
            <p:cNvPr id="8" name="TextBox 8"/>
            <p:cNvSpPr txBox="1"/>
            <p:nvPr/>
          </p:nvSpPr>
          <p:spPr>
            <a:xfrm>
              <a:off x="0" y="-85725"/>
              <a:ext cx="4516851" cy="2171219"/>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028700" y="2640377"/>
            <a:ext cx="15662109" cy="3261360"/>
          </a:xfrm>
          <a:prstGeom prst="rect">
            <a:avLst/>
          </a:prstGeom>
        </p:spPr>
        <p:txBody>
          <a:bodyPr lIns="0" tIns="0" rIns="0" bIns="0" rtlCol="0" anchor="t">
            <a:spAutoFit/>
          </a:bodyPr>
          <a:lstStyle/>
          <a:p>
            <a:pPr algn="ctr">
              <a:lnSpc>
                <a:spcPts val="5040"/>
              </a:lnSpc>
              <a:spcBef>
                <a:spcPct val="0"/>
              </a:spcBef>
            </a:pPr>
            <a:r>
              <a:rPr lang="en-US" sz="3600">
                <a:solidFill>
                  <a:srgbClr val="004A7C"/>
                </a:solidFill>
                <a:latin typeface="Agrandir Narrow"/>
                <a:ea typeface="Agrandir Narrow"/>
                <a:cs typeface="Agrandir Narrow"/>
                <a:sym typeface="Agrandir Narrow"/>
              </a:rPr>
              <a:t>The Online Job Portal Website is a platform that helps connect job seekers with recruiters in a fast and efficient way. It makes the hiring process quicker, more transparent, and easier for everyone to use. Job seekers can easily find and apply for jobs, while employers can quickly post openings and select the right candidates.</a:t>
            </a:r>
          </a:p>
        </p:txBody>
      </p:sp>
      <p:sp>
        <p:nvSpPr>
          <p:cNvPr id="10" name="TextBox 10"/>
          <p:cNvSpPr txBox="1"/>
          <p:nvPr/>
        </p:nvSpPr>
        <p:spPr>
          <a:xfrm>
            <a:off x="879415" y="6226645"/>
            <a:ext cx="15991886" cy="1985010"/>
          </a:xfrm>
          <a:prstGeom prst="rect">
            <a:avLst/>
          </a:prstGeom>
        </p:spPr>
        <p:txBody>
          <a:bodyPr lIns="0" tIns="0" rIns="0" bIns="0" rtlCol="0" anchor="t">
            <a:spAutoFit/>
          </a:bodyPr>
          <a:lstStyle/>
          <a:p>
            <a:pPr algn="ctr">
              <a:lnSpc>
                <a:spcPts val="5040"/>
              </a:lnSpc>
              <a:spcBef>
                <a:spcPct val="0"/>
              </a:spcBef>
            </a:pPr>
            <a:r>
              <a:rPr lang="en-US" sz="3600">
                <a:solidFill>
                  <a:srgbClr val="004A7C"/>
                </a:solidFill>
                <a:latin typeface="Agrandir Narrow"/>
                <a:ea typeface="Agrandir Narrow"/>
                <a:cs typeface="Agrandir Narrow"/>
                <a:sym typeface="Agrandir Narrow"/>
              </a:rPr>
              <a:t>In the future, the system can be improved with smart features like AI-based job suggestions and automatic resume checking, making it even more useful and powerful for both job seekers and companies.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a:off x="12496753" y="9109918"/>
            <a:ext cx="5829347" cy="6135263"/>
          </a:xfrm>
          <a:custGeom>
            <a:avLst/>
            <a:gdLst/>
            <a:ahLst/>
            <a:cxnLst/>
            <a:rect l="l" t="t" r="r" b="b"/>
            <a:pathLst>
              <a:path w="5829347" h="6135263">
                <a:moveTo>
                  <a:pt x="0" y="0"/>
                </a:moveTo>
                <a:lnTo>
                  <a:pt x="5829347" y="0"/>
                </a:lnTo>
                <a:lnTo>
                  <a:pt x="5829347" y="6135263"/>
                </a:lnTo>
                <a:lnTo>
                  <a:pt x="0" y="61352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0" y="-4257824"/>
            <a:ext cx="5829347" cy="6135263"/>
          </a:xfrm>
          <a:custGeom>
            <a:avLst/>
            <a:gdLst/>
            <a:ahLst/>
            <a:cxnLst/>
            <a:rect l="l" t="t" r="r" b="b"/>
            <a:pathLst>
              <a:path w="5829347" h="6135263">
                <a:moveTo>
                  <a:pt x="0" y="0"/>
                </a:moveTo>
                <a:lnTo>
                  <a:pt x="5829347" y="0"/>
                </a:lnTo>
                <a:lnTo>
                  <a:pt x="5829347" y="6135263"/>
                </a:lnTo>
                <a:lnTo>
                  <a:pt x="0" y="61352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3478976"/>
            <a:ext cx="5272815" cy="6808024"/>
          </a:xfrm>
          <a:custGeom>
            <a:avLst/>
            <a:gdLst/>
            <a:ahLst/>
            <a:cxnLst/>
            <a:rect l="l" t="t" r="r" b="b"/>
            <a:pathLst>
              <a:path w="5272815" h="6808024">
                <a:moveTo>
                  <a:pt x="5272815" y="0"/>
                </a:moveTo>
                <a:lnTo>
                  <a:pt x="0" y="0"/>
                </a:lnTo>
                <a:lnTo>
                  <a:pt x="0" y="6808024"/>
                </a:lnTo>
                <a:lnTo>
                  <a:pt x="5272815" y="6808024"/>
                </a:lnTo>
                <a:lnTo>
                  <a:pt x="5272815"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V="1">
            <a:off x="13015185" y="0"/>
            <a:ext cx="5272815" cy="6808024"/>
          </a:xfrm>
          <a:custGeom>
            <a:avLst/>
            <a:gdLst/>
            <a:ahLst/>
            <a:cxnLst/>
            <a:rect l="l" t="t" r="r" b="b"/>
            <a:pathLst>
              <a:path w="5272815" h="6808024">
                <a:moveTo>
                  <a:pt x="0" y="6808024"/>
                </a:moveTo>
                <a:lnTo>
                  <a:pt x="5272815" y="6808024"/>
                </a:lnTo>
                <a:lnTo>
                  <a:pt x="5272815" y="0"/>
                </a:lnTo>
                <a:lnTo>
                  <a:pt x="0" y="0"/>
                </a:lnTo>
                <a:lnTo>
                  <a:pt x="0" y="6808024"/>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2778549" y="2221897"/>
            <a:ext cx="12505936" cy="6681718"/>
          </a:xfrm>
          <a:custGeom>
            <a:avLst/>
            <a:gdLst/>
            <a:ahLst/>
            <a:cxnLst/>
            <a:rect l="l" t="t" r="r" b="b"/>
            <a:pathLst>
              <a:path w="12505936" h="6681718">
                <a:moveTo>
                  <a:pt x="0" y="0"/>
                </a:moveTo>
                <a:lnTo>
                  <a:pt x="12505936" y="0"/>
                </a:lnTo>
                <a:lnTo>
                  <a:pt x="12505936" y="6681718"/>
                </a:lnTo>
                <a:lnTo>
                  <a:pt x="0" y="6681718"/>
                </a:lnTo>
                <a:lnTo>
                  <a:pt x="0" y="0"/>
                </a:lnTo>
                <a:close/>
              </a:path>
            </a:pathLst>
          </a:custGeom>
          <a:blipFill>
            <a:blip r:embed="rId7"/>
            <a:stretch>
              <a:fillRect t="-19560" b="-701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561</Words>
  <Application>Microsoft Office PowerPoint</Application>
  <PresentationFormat>Custom</PresentationFormat>
  <Paragraphs>87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Assistant Ultra-Bold</vt:lpstr>
      <vt:lpstr>Century Gothic Paneuropean</vt:lpstr>
      <vt:lpstr>Calibri</vt:lpstr>
      <vt:lpstr>Arial</vt:lpstr>
      <vt:lpstr>Agrandir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White Geometric Abstract Presentation</dc:title>
  <cp:lastModifiedBy>monilmaisuriya36@gmail.com</cp:lastModifiedBy>
  <cp:revision>4</cp:revision>
  <dcterms:created xsi:type="dcterms:W3CDTF">2006-08-16T00:00:00Z</dcterms:created>
  <dcterms:modified xsi:type="dcterms:W3CDTF">2025-09-22T08:19:22Z</dcterms:modified>
  <dc:identifier>DAGzoazhFVM</dc:identifier>
</cp:coreProperties>
</file>